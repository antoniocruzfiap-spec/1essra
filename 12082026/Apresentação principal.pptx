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4" r:id="rId3"/>
    <p:sldId id="276" r:id="rId4"/>
    <p:sldId id="275" r:id="rId5"/>
    <p:sldId id="277" r:id="rId6"/>
    <p:sldId id="265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ônio Carlos Teixeira Cruz" initials="ACTC" lastIdx="1" clrIdx="0">
    <p:extLst>
      <p:ext uri="{19B8F6BF-5375-455C-9EA6-DF929625EA0E}">
        <p15:presenceInfo xmlns:p15="http://schemas.microsoft.com/office/powerpoint/2012/main" userId="S::antonio.cruz@fiocruz.br::0803d401-93ac-4d36-9097-76398d6f284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155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10" autoAdjust="0"/>
  </p:normalViewPr>
  <p:slideViewPr>
    <p:cSldViewPr snapToGrid="0">
      <p:cViewPr varScale="1">
        <p:scale>
          <a:sx n="74" d="100"/>
          <a:sy n="74" d="100"/>
        </p:scale>
        <p:origin x="49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08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F02461-836B-4658-B905-5F99199145BE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AEBFE-B21E-4BAA-A5CD-0AC40EED26E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1993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0BFD1603-D2DC-44D2-AD9B-6D739C0466EB}"/>
              </a:ext>
            </a:extLst>
          </p:cNvPr>
          <p:cNvSpPr txBox="1"/>
          <p:nvPr userDrawn="1"/>
        </p:nvSpPr>
        <p:spPr>
          <a:xfrm>
            <a:off x="4658629" y="1089898"/>
            <a:ext cx="30512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9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WEB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F4ECAC6-D94C-4410-8B19-172AFB8642B0}"/>
              </a:ext>
            </a:extLst>
          </p:cNvPr>
          <p:cNvSpPr txBox="1"/>
          <p:nvPr userDrawn="1"/>
        </p:nvSpPr>
        <p:spPr>
          <a:xfrm>
            <a:off x="824697" y="2659558"/>
            <a:ext cx="1054260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DESENVOLVIMENTO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2424647" y="4035889"/>
            <a:ext cx="79023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dirty="0"/>
              <a:t>Revisão Primeiro Semestre e Introdução ao DOM</a:t>
            </a:r>
          </a:p>
        </p:txBody>
      </p:sp>
    </p:spTree>
    <p:extLst>
      <p:ext uri="{BB962C8B-B14F-4D97-AF65-F5344CB8AC3E}">
        <p14:creationId xmlns:p14="http://schemas.microsoft.com/office/powerpoint/2010/main" val="263650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959191" y="1607453"/>
            <a:ext cx="427361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0" dirty="0"/>
              <a:t>Sejam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B9C9351-4AD6-44DC-8CA4-D2E6114C0D05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C0155960-622F-470D-B347-BB46D20544CB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id="{6A1E6FC2-9CDD-4A9D-9BE4-DDB31B25BE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9B7BF9C-4523-4D09-B479-47E638305162}"/>
              </a:ext>
            </a:extLst>
          </p:cNvPr>
          <p:cNvSpPr txBox="1"/>
          <p:nvPr userDrawn="1"/>
        </p:nvSpPr>
        <p:spPr>
          <a:xfrm>
            <a:off x="2940211" y="2930892"/>
            <a:ext cx="63115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8000" dirty="0"/>
              <a:t>Bem – Vindos!</a:t>
            </a:r>
          </a:p>
        </p:txBody>
      </p:sp>
    </p:spTree>
    <p:extLst>
      <p:ext uri="{BB962C8B-B14F-4D97-AF65-F5344CB8AC3E}">
        <p14:creationId xmlns:p14="http://schemas.microsoft.com/office/powerpoint/2010/main" val="3809625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742622" y="2538596"/>
            <a:ext cx="509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Primeiro Atividade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1BCAFFA-875D-4880-A29C-519083084C5A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2C6F7A1-4B43-421A-AE27-DA4D9AEB594B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8D4A9569-2EFA-4A44-A37D-7D0DD07B25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5706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742622" y="2538596"/>
            <a:ext cx="509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Segunda Atividade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1BCAFFA-875D-4880-A29C-519083084C5A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62C6F7A1-4B43-421A-AE27-DA4D9AEB594B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8D4A9569-2EFA-4A44-A37D-7D0DD07B25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705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3B1673D-CAAA-4702-B672-FC80BAD4FAD9}"/>
              </a:ext>
            </a:extLst>
          </p:cNvPr>
          <p:cNvSpPr txBox="1"/>
          <p:nvPr userDrawn="1"/>
        </p:nvSpPr>
        <p:spPr>
          <a:xfrm>
            <a:off x="9102902" y="6204031"/>
            <a:ext cx="30822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 err="1">
                <a:solidFill>
                  <a:schemeClr val="tx1"/>
                </a:solidFill>
                <a:latin typeface="Arial Rounded MT Bold" panose="020F0704030504030204" pitchFamily="34" charset="0"/>
              </a:rPr>
              <a:t>Antonio</a:t>
            </a:r>
            <a:r>
              <a:rPr lang="pt-BR" sz="36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 Cruz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B30EDA2-963D-40CE-9725-CA7FB2508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30F821-BF76-4EC7-A967-C377533AE39B}"/>
              </a:ext>
            </a:extLst>
          </p:cNvPr>
          <p:cNvSpPr txBox="1"/>
          <p:nvPr userDrawn="1"/>
        </p:nvSpPr>
        <p:spPr>
          <a:xfrm>
            <a:off x="3752247" y="2823107"/>
            <a:ext cx="509176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800" dirty="0"/>
              <a:t>Introdução ao DOM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55816A5-D6A6-41B3-BA2E-F921AAAC95B0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72166FB9-4846-460E-940E-BE3CB38D026F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21188AFC-F664-4DA7-87AB-9FCDF4EB91E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5835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A98FBD92-CE5F-443B-93C2-B6E358FE96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2302" y="6203154"/>
            <a:ext cx="2350068" cy="723724"/>
          </a:xfrm>
          <a:prstGeom prst="rect">
            <a:avLst/>
          </a:prstGeom>
          <a:effectLst>
            <a:softEdge rad="127000"/>
          </a:effectLst>
        </p:spPr>
      </p:pic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6C16729-FFD3-4CAA-8D42-3350A82F65E2}"/>
              </a:ext>
            </a:extLst>
          </p:cNvPr>
          <p:cNvGrpSpPr/>
          <p:nvPr userDrawn="1"/>
        </p:nvGrpSpPr>
        <p:grpSpPr>
          <a:xfrm>
            <a:off x="18350" y="12813"/>
            <a:ext cx="10142791" cy="523220"/>
            <a:chOff x="27975" y="340068"/>
            <a:chExt cx="10142791" cy="523220"/>
          </a:xfrm>
        </p:grpSpPr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id="{8A673F9D-498C-44E1-88C4-44B4CED29890}"/>
                </a:ext>
              </a:extLst>
            </p:cNvPr>
            <p:cNvSpPr txBox="1"/>
            <p:nvPr userDrawn="1"/>
          </p:nvSpPr>
          <p:spPr>
            <a:xfrm>
              <a:off x="27975" y="340068"/>
              <a:ext cx="1014279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800" dirty="0">
                  <a:solidFill>
                    <a:schemeClr val="tx1"/>
                  </a:solidFill>
                  <a:latin typeface="Arial Rounded MT Bold" panose="020F0704030504030204" pitchFamily="34" charset="0"/>
                </a:rPr>
                <a:t>WEB</a:t>
              </a:r>
              <a:r>
                <a:rPr lang="pt-BR" sz="2800" dirty="0">
                  <a:solidFill>
                    <a:srgbClr val="FF0000"/>
                  </a:solidFill>
                  <a:latin typeface="Arial Rounded MT Bold" panose="020F0704030504030204" pitchFamily="34" charset="0"/>
                </a:rPr>
                <a:t> DESENVOLVIMENTO </a:t>
              </a:r>
              <a:endParaRPr lang="pt-BR" sz="2800" dirty="0">
                <a:solidFill>
                  <a:schemeClr val="tx1"/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0" name="Conector reto 19">
              <a:extLst>
                <a:ext uri="{FF2B5EF4-FFF2-40B4-BE49-F238E27FC236}">
                  <a16:creationId xmlns:a16="http://schemas.microsoft.com/office/drawing/2014/main" id="{F0D1C108-4B3C-4382-AA01-71505EE7572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249" y="850896"/>
              <a:ext cx="864276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419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537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603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4" r:id="rId3"/>
    <p:sldLayoutId id="2147483655" r:id="rId4"/>
    <p:sldLayoutId id="2147483653" r:id="rId5"/>
    <p:sldLayoutId id="2147483650" r:id="rId6"/>
    <p:sldLayoutId id="214748365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59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128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39C208-EBC3-45C9-AED5-DDB5B2401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90" y="1030108"/>
            <a:ext cx="1210691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Arquivos Externos: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Conexão de folha de estilo (style.css) via &lt;link&gt; e script (script.js) via &lt;script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Limpeza de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Remoção de espaços em branco desnecessários das pontas do texto com .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trim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Lógica de Validação: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Verificação de campo vazio utilizando a estrutura condicional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Estilização Dinâmica: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Aplicação e remoção de estados visuais de erro e sucesso via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classList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/remove) e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className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835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2744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8FD6603-769F-4699-8E38-B5C49C39EC14}"/>
              </a:ext>
            </a:extLst>
          </p:cNvPr>
          <p:cNvSpPr txBox="1"/>
          <p:nvPr/>
        </p:nvSpPr>
        <p:spPr>
          <a:xfrm>
            <a:off x="5374257" y="14837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7B1A61-C2D3-4552-BF83-752F2FDEB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22242"/>
            <a:ext cx="1210691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Arquivos Externos: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Conexão de folha de estilo (style.css) via &lt;link&gt; e script (script.js) via &lt;script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src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Contador em Tempo Real: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Captura da quantidade de caracteres digitados usando o evento 'input' e a propriedade .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length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Limpeza de </a:t>
            </a:r>
            <a:r>
              <a:rPr kumimoji="0" lang="pt-BR" altLang="pt-B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Remoção de espaços em branco das pontas com .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trim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Validação de Quantidade Mínima: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Bloqueio do envio para textos com 10 caracteres ou menos (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texto.length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&lt;= 10) com a estrutura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Estilização Dinâmica: 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Aplicação e remoção de estados visuais de erro e sucesso via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classList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kumimoji="0" lang="pt-BR" altLang="pt-BR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className</a:t>
            </a:r>
            <a:r>
              <a:rPr kumimoji="0" lang="pt-BR" altLang="pt-BR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0381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03A9F873-01A9-43CE-9072-25E91F7DA04D}"/>
              </a:ext>
            </a:extLst>
          </p:cNvPr>
          <p:cNvGrpSpPr/>
          <p:nvPr/>
        </p:nvGrpSpPr>
        <p:grpSpPr>
          <a:xfrm>
            <a:off x="5442820" y="4930719"/>
            <a:ext cx="6733830" cy="1991659"/>
            <a:chOff x="5442820" y="4551585"/>
            <a:chExt cx="6733830" cy="1991659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C9219349-C52F-4A93-8513-224CD0AEDF47}"/>
                </a:ext>
              </a:extLst>
            </p:cNvPr>
            <p:cNvSpPr txBox="1"/>
            <p:nvPr/>
          </p:nvSpPr>
          <p:spPr>
            <a:xfrm>
              <a:off x="5442820" y="5219805"/>
              <a:ext cx="6733830" cy="1323439"/>
            </a:xfrm>
            <a:prstGeom prst="rect">
              <a:avLst/>
            </a:prstGeom>
            <a:noFill/>
            <a:effectLst>
              <a:softEdge rad="114300"/>
            </a:effectLst>
          </p:spPr>
          <p:txBody>
            <a:bodyPr wrap="square">
              <a:spAutoFit/>
            </a:bodyPr>
            <a:lstStyle/>
            <a:p>
              <a:r>
                <a:rPr lang="pt-BR" sz="8000" b="1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PERGUNTAS???</a:t>
              </a:r>
              <a:endParaRPr lang="pt-BR" sz="8000" b="1" dirty="0"/>
            </a:p>
          </p:txBody>
        </p:sp>
        <p:sp>
          <p:nvSpPr>
            <p:cNvPr id="12" name="Título 1">
              <a:extLst>
                <a:ext uri="{FF2B5EF4-FFF2-40B4-BE49-F238E27FC236}">
                  <a16:creationId xmlns:a16="http://schemas.microsoft.com/office/drawing/2014/main" id="{E3255C86-6FD8-4152-8291-2D7040D65F31}"/>
                </a:ext>
              </a:extLst>
            </p:cNvPr>
            <p:cNvSpPr txBox="1">
              <a:spLocks/>
            </p:cNvSpPr>
            <p:nvPr/>
          </p:nvSpPr>
          <p:spPr>
            <a:xfrm>
              <a:off x="5442820" y="5184761"/>
              <a:ext cx="4020357" cy="225995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defPPr rtl="0"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400" dirty="0"/>
                <a:t>profantonio.cruz@fiap.com.br</a:t>
              </a:r>
              <a:endParaRPr lang="pt-br" sz="2400" dirty="0"/>
            </a:p>
          </p:txBody>
        </p: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D8D74F1A-AAAC-4A0B-996C-A179DB6E4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2820" y="4551585"/>
              <a:ext cx="451917" cy="451917"/>
            </a:xfrm>
            <a:prstGeom prst="rect">
              <a:avLst/>
            </a:prstGeom>
          </p:spPr>
        </p:pic>
        <p:sp>
          <p:nvSpPr>
            <p:cNvPr id="14" name="Título 1">
              <a:extLst>
                <a:ext uri="{FF2B5EF4-FFF2-40B4-BE49-F238E27FC236}">
                  <a16:creationId xmlns:a16="http://schemas.microsoft.com/office/drawing/2014/main" id="{2E16270C-1DE1-4F21-924B-6CAC6CFC09E2}"/>
                </a:ext>
              </a:extLst>
            </p:cNvPr>
            <p:cNvSpPr txBox="1">
              <a:spLocks/>
            </p:cNvSpPr>
            <p:nvPr/>
          </p:nvSpPr>
          <p:spPr>
            <a:xfrm>
              <a:off x="5855417" y="4656643"/>
              <a:ext cx="3836453" cy="311815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defPPr rtl="0"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pt-BR" sz="2400" b="1" dirty="0"/>
                <a:t>Profissional:</a:t>
              </a:r>
              <a:endParaRPr lang="pt-br" sz="2400" b="1" dirty="0"/>
            </a:p>
          </p:txBody>
        </p:sp>
      </p:grp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CA2AE6D-8CE8-4E18-A7AD-549FF7C272E2}"/>
              </a:ext>
            </a:extLst>
          </p:cNvPr>
          <p:cNvSpPr txBox="1"/>
          <p:nvPr/>
        </p:nvSpPr>
        <p:spPr>
          <a:xfrm>
            <a:off x="0" y="1046084"/>
            <a:ext cx="733361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i="1" dirty="0"/>
              <a:t>"A forma como o ser interage com o mundo é a exteriorização de seus desejos e experiências intrínsecas, revelando, em cada ação, fragmentos de sua essência, de sua história e da maneira como compreende a realidade ao seu redor.“ </a:t>
            </a:r>
            <a:r>
              <a:rPr lang="pt-BR" sz="2400" dirty="0"/>
              <a:t>— </a:t>
            </a:r>
            <a:r>
              <a:rPr lang="pt-BR" sz="2400" dirty="0" err="1"/>
              <a:t>Antonio</a:t>
            </a:r>
            <a:r>
              <a:rPr lang="pt-BR" sz="2400" dirty="0"/>
              <a:t> Cruz</a:t>
            </a:r>
            <a:endParaRPr lang="pt-BR" sz="2400" i="1" dirty="0"/>
          </a:p>
        </p:txBody>
      </p:sp>
    </p:spTree>
    <p:extLst>
      <p:ext uri="{BB962C8B-B14F-4D97-AF65-F5344CB8AC3E}">
        <p14:creationId xmlns:p14="http://schemas.microsoft.com/office/powerpoint/2010/main" val="13339123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8433</TotalTime>
  <Words>260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Arial Rounded MT Bold</vt:lpstr>
      <vt:lpstr>Calibri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MEUCOMPUTADOR</dc:creator>
  <cp:lastModifiedBy>Antonio Carlos Teixeira Cruz</cp:lastModifiedBy>
  <cp:revision>239</cp:revision>
  <cp:lastPrinted>2026-08-06T13:08:12Z</cp:lastPrinted>
  <dcterms:created xsi:type="dcterms:W3CDTF">2026-03-25T01:38:16Z</dcterms:created>
  <dcterms:modified xsi:type="dcterms:W3CDTF">2026-08-13T04:47:08Z</dcterms:modified>
</cp:coreProperties>
</file>