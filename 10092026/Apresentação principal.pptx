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76" r:id="rId3"/>
    <p:sldId id="283" r:id="rId4"/>
    <p:sldId id="284" r:id="rId5"/>
    <p:sldId id="282" r:id="rId6"/>
    <p:sldId id="277" r:id="rId7"/>
    <p:sldId id="279" r:id="rId8"/>
    <p:sldId id="280" r:id="rId9"/>
    <p:sldId id="281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tônio Carlos Teixeira Cruz" initials="ACTC" lastIdx="1" clrIdx="0">
    <p:extLst>
      <p:ext uri="{19B8F6BF-5375-455C-9EA6-DF929625EA0E}">
        <p15:presenceInfo xmlns:p15="http://schemas.microsoft.com/office/powerpoint/2012/main" userId="S::antonio.cruz@fiocruz.br::0803d401-93ac-4d36-9097-76398d6f284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155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10" autoAdjust="0"/>
  </p:normalViewPr>
  <p:slideViewPr>
    <p:cSldViewPr snapToGrid="0">
      <p:cViewPr varScale="1">
        <p:scale>
          <a:sx n="74" d="100"/>
          <a:sy n="74" d="100"/>
        </p:scale>
        <p:origin x="4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02461-836B-4658-B905-5F99199145BE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AEBFE-B21E-4BAA-A5CD-0AC40EED26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1993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0BFD1603-D2DC-44D2-AD9B-6D739C0466EB}"/>
              </a:ext>
            </a:extLst>
          </p:cNvPr>
          <p:cNvSpPr txBox="1"/>
          <p:nvPr userDrawn="1"/>
        </p:nvSpPr>
        <p:spPr>
          <a:xfrm>
            <a:off x="4658629" y="1089898"/>
            <a:ext cx="30512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WEB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F4ECAC6-D94C-4410-8B19-172AFB8642B0}"/>
              </a:ext>
            </a:extLst>
          </p:cNvPr>
          <p:cNvSpPr txBox="1"/>
          <p:nvPr userDrawn="1"/>
        </p:nvSpPr>
        <p:spPr>
          <a:xfrm>
            <a:off x="824697" y="2659558"/>
            <a:ext cx="105426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DESENVOLVIMENTO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3B1673D-CAAA-4702-B672-FC80BAD4FAD9}"/>
              </a:ext>
            </a:extLst>
          </p:cNvPr>
          <p:cNvSpPr txBox="1"/>
          <p:nvPr userDrawn="1"/>
        </p:nvSpPr>
        <p:spPr>
          <a:xfrm>
            <a:off x="9102902" y="6204031"/>
            <a:ext cx="308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Antonio</a:t>
            </a:r>
            <a:r>
              <a:rPr lang="pt-BR" sz="3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Cruz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B30EDA2-963D-40CE-9725-CA7FB2508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30F821-BF76-4EC7-A967-C377533AE39B}"/>
              </a:ext>
            </a:extLst>
          </p:cNvPr>
          <p:cNvSpPr txBox="1"/>
          <p:nvPr userDrawn="1"/>
        </p:nvSpPr>
        <p:spPr>
          <a:xfrm>
            <a:off x="2424647" y="4035889"/>
            <a:ext cx="79023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API (</a:t>
            </a:r>
            <a:r>
              <a:rPr lang="pt-BR" sz="3200" dirty="0" err="1"/>
              <a:t>Application</a:t>
            </a:r>
            <a:r>
              <a:rPr lang="pt-BR" sz="3200" dirty="0"/>
              <a:t> </a:t>
            </a:r>
            <a:r>
              <a:rPr lang="pt-BR" sz="3200" dirty="0" err="1"/>
              <a:t>Programming</a:t>
            </a:r>
            <a:r>
              <a:rPr lang="pt-BR" sz="3200" dirty="0"/>
              <a:t> Interface)</a:t>
            </a:r>
          </a:p>
        </p:txBody>
      </p:sp>
    </p:spTree>
    <p:extLst>
      <p:ext uri="{BB962C8B-B14F-4D97-AF65-F5344CB8AC3E}">
        <p14:creationId xmlns:p14="http://schemas.microsoft.com/office/powerpoint/2010/main" val="2636506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13B1673D-CAAA-4702-B672-FC80BAD4FAD9}"/>
              </a:ext>
            </a:extLst>
          </p:cNvPr>
          <p:cNvSpPr txBox="1"/>
          <p:nvPr userDrawn="1"/>
        </p:nvSpPr>
        <p:spPr>
          <a:xfrm>
            <a:off x="9102902" y="6204031"/>
            <a:ext cx="308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Antonio</a:t>
            </a:r>
            <a:r>
              <a:rPr lang="pt-BR" sz="3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Cruz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B30EDA2-963D-40CE-9725-CA7FB2508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30F821-BF76-4EC7-A967-C377533AE39B}"/>
              </a:ext>
            </a:extLst>
          </p:cNvPr>
          <p:cNvSpPr txBox="1"/>
          <p:nvPr userDrawn="1"/>
        </p:nvSpPr>
        <p:spPr>
          <a:xfrm>
            <a:off x="3959191" y="1607453"/>
            <a:ext cx="42736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0" dirty="0"/>
              <a:t>Sejam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9B9C9351-4AD6-44DC-8CA4-D2E6114C0D05}"/>
              </a:ext>
            </a:extLst>
          </p:cNvPr>
          <p:cNvGrpSpPr/>
          <p:nvPr userDrawn="1"/>
        </p:nvGrpSpPr>
        <p:grpSpPr>
          <a:xfrm>
            <a:off x="18350" y="12813"/>
            <a:ext cx="10142791" cy="523220"/>
            <a:chOff x="27975" y="340068"/>
            <a:chExt cx="10142791" cy="523220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C0155960-622F-470D-B347-BB46D20544CB}"/>
                </a:ext>
              </a:extLst>
            </p:cNvPr>
            <p:cNvSpPr txBox="1"/>
            <p:nvPr userDrawn="1"/>
          </p:nvSpPr>
          <p:spPr>
            <a:xfrm>
              <a:off x="27975" y="340068"/>
              <a:ext cx="101427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8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WEB</a:t>
              </a:r>
              <a:r>
                <a:rPr lang="pt-BR" sz="28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 DESENVOLVIMENTO </a:t>
              </a:r>
              <a:endParaRPr lang="pt-BR" sz="28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6A1E6FC2-9CDD-4A9D-9BE4-DDB31B25BE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249" y="850896"/>
              <a:ext cx="86427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9B7BF9C-4523-4D09-B479-47E638305162}"/>
              </a:ext>
            </a:extLst>
          </p:cNvPr>
          <p:cNvSpPr txBox="1"/>
          <p:nvPr userDrawn="1"/>
        </p:nvSpPr>
        <p:spPr>
          <a:xfrm>
            <a:off x="2940211" y="2930892"/>
            <a:ext cx="63115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0" dirty="0"/>
              <a:t>Bem – Vindos!</a:t>
            </a:r>
          </a:p>
        </p:txBody>
      </p:sp>
    </p:spTree>
    <p:extLst>
      <p:ext uri="{BB962C8B-B14F-4D97-AF65-F5344CB8AC3E}">
        <p14:creationId xmlns:p14="http://schemas.microsoft.com/office/powerpoint/2010/main" val="3809625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13B1673D-CAAA-4702-B672-FC80BAD4FAD9}"/>
              </a:ext>
            </a:extLst>
          </p:cNvPr>
          <p:cNvSpPr txBox="1"/>
          <p:nvPr userDrawn="1"/>
        </p:nvSpPr>
        <p:spPr>
          <a:xfrm>
            <a:off x="9102902" y="6204031"/>
            <a:ext cx="308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Antonio</a:t>
            </a:r>
            <a:r>
              <a:rPr lang="pt-BR" sz="3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Cruz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B30EDA2-963D-40CE-9725-CA7FB2508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30F821-BF76-4EC7-A967-C377533AE39B}"/>
              </a:ext>
            </a:extLst>
          </p:cNvPr>
          <p:cNvSpPr txBox="1"/>
          <p:nvPr userDrawn="1"/>
        </p:nvSpPr>
        <p:spPr>
          <a:xfrm>
            <a:off x="3742622" y="2538596"/>
            <a:ext cx="5091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dirty="0"/>
              <a:t>Primeiro Semestre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81BCAFFA-875D-4880-A29C-519083084C5A}"/>
              </a:ext>
            </a:extLst>
          </p:cNvPr>
          <p:cNvGrpSpPr/>
          <p:nvPr userDrawn="1"/>
        </p:nvGrpSpPr>
        <p:grpSpPr>
          <a:xfrm>
            <a:off x="18350" y="12813"/>
            <a:ext cx="10142791" cy="523220"/>
            <a:chOff x="27975" y="340068"/>
            <a:chExt cx="10142791" cy="523220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62C6F7A1-4B43-421A-AE27-DA4D9AEB594B}"/>
                </a:ext>
              </a:extLst>
            </p:cNvPr>
            <p:cNvSpPr txBox="1"/>
            <p:nvPr userDrawn="1"/>
          </p:nvSpPr>
          <p:spPr>
            <a:xfrm>
              <a:off x="27975" y="340068"/>
              <a:ext cx="101427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8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WEB</a:t>
              </a:r>
              <a:r>
                <a:rPr lang="pt-BR" sz="28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 DESENVOLVIMENTO </a:t>
              </a:r>
              <a:endParaRPr lang="pt-BR" sz="28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8D4A9569-2EFA-4A44-A37D-7D0DD07B25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249" y="850896"/>
              <a:ext cx="86427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5706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13B1673D-CAAA-4702-B672-FC80BAD4FAD9}"/>
              </a:ext>
            </a:extLst>
          </p:cNvPr>
          <p:cNvSpPr txBox="1"/>
          <p:nvPr userDrawn="1"/>
        </p:nvSpPr>
        <p:spPr>
          <a:xfrm>
            <a:off x="9102902" y="6204031"/>
            <a:ext cx="308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Antonio</a:t>
            </a:r>
            <a:r>
              <a:rPr lang="pt-BR" sz="3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Cruz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B30EDA2-963D-40CE-9725-CA7FB2508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30F821-BF76-4EC7-A967-C377533AE39B}"/>
              </a:ext>
            </a:extLst>
          </p:cNvPr>
          <p:cNvSpPr txBox="1"/>
          <p:nvPr userDrawn="1"/>
        </p:nvSpPr>
        <p:spPr>
          <a:xfrm>
            <a:off x="3742622" y="2538596"/>
            <a:ext cx="5091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dirty="0"/>
              <a:t>Segundo Semestre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81BCAFFA-875D-4880-A29C-519083084C5A}"/>
              </a:ext>
            </a:extLst>
          </p:cNvPr>
          <p:cNvGrpSpPr/>
          <p:nvPr userDrawn="1"/>
        </p:nvGrpSpPr>
        <p:grpSpPr>
          <a:xfrm>
            <a:off x="18350" y="12813"/>
            <a:ext cx="10142791" cy="523220"/>
            <a:chOff x="27975" y="340068"/>
            <a:chExt cx="10142791" cy="523220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62C6F7A1-4B43-421A-AE27-DA4D9AEB594B}"/>
                </a:ext>
              </a:extLst>
            </p:cNvPr>
            <p:cNvSpPr txBox="1"/>
            <p:nvPr userDrawn="1"/>
          </p:nvSpPr>
          <p:spPr>
            <a:xfrm>
              <a:off x="27975" y="340068"/>
              <a:ext cx="101427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8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WEB</a:t>
              </a:r>
              <a:r>
                <a:rPr lang="pt-BR" sz="28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 DESENVOLVIMENTO </a:t>
              </a:r>
              <a:endParaRPr lang="pt-BR" sz="28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8D4A9569-2EFA-4A44-A37D-7D0DD07B25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249" y="850896"/>
              <a:ext cx="86427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705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13B1673D-CAAA-4702-B672-FC80BAD4FAD9}"/>
              </a:ext>
            </a:extLst>
          </p:cNvPr>
          <p:cNvSpPr txBox="1"/>
          <p:nvPr userDrawn="1"/>
        </p:nvSpPr>
        <p:spPr>
          <a:xfrm>
            <a:off x="9102902" y="6204031"/>
            <a:ext cx="308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Antonio</a:t>
            </a:r>
            <a:r>
              <a:rPr lang="pt-BR" sz="3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Cruz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B30EDA2-963D-40CE-9725-CA7FB2508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30F821-BF76-4EC7-A967-C377533AE39B}"/>
              </a:ext>
            </a:extLst>
          </p:cNvPr>
          <p:cNvSpPr txBox="1"/>
          <p:nvPr userDrawn="1"/>
        </p:nvSpPr>
        <p:spPr>
          <a:xfrm>
            <a:off x="3752247" y="2823107"/>
            <a:ext cx="5091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dirty="0"/>
              <a:t>Introdução ao DOM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55816A5-D6A6-41B3-BA2E-F921AAAC95B0}"/>
              </a:ext>
            </a:extLst>
          </p:cNvPr>
          <p:cNvGrpSpPr/>
          <p:nvPr userDrawn="1"/>
        </p:nvGrpSpPr>
        <p:grpSpPr>
          <a:xfrm>
            <a:off x="18350" y="12813"/>
            <a:ext cx="10142791" cy="523220"/>
            <a:chOff x="27975" y="340068"/>
            <a:chExt cx="10142791" cy="523220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72166FB9-4846-460E-940E-BE3CB38D026F}"/>
                </a:ext>
              </a:extLst>
            </p:cNvPr>
            <p:cNvSpPr txBox="1"/>
            <p:nvPr userDrawn="1"/>
          </p:nvSpPr>
          <p:spPr>
            <a:xfrm>
              <a:off x="27975" y="340068"/>
              <a:ext cx="101427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8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WEB</a:t>
              </a:r>
              <a:r>
                <a:rPr lang="pt-BR" sz="28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 DESENVOLVIMENTO </a:t>
              </a:r>
              <a:endParaRPr lang="pt-BR" sz="28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21188AFC-F664-4DA7-87AB-9FCDF4EB91E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249" y="850896"/>
              <a:ext cx="86427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5835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A98FBD92-CE5F-443B-93C2-B6E358FE96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6C16729-FFD3-4CAA-8D42-3350A82F65E2}"/>
              </a:ext>
            </a:extLst>
          </p:cNvPr>
          <p:cNvGrpSpPr/>
          <p:nvPr userDrawn="1"/>
        </p:nvGrpSpPr>
        <p:grpSpPr>
          <a:xfrm>
            <a:off x="18350" y="12813"/>
            <a:ext cx="10142791" cy="523220"/>
            <a:chOff x="27975" y="340068"/>
            <a:chExt cx="10142791" cy="523220"/>
          </a:xfrm>
        </p:grpSpPr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8A673F9D-498C-44E1-88C4-44B4CED29890}"/>
                </a:ext>
              </a:extLst>
            </p:cNvPr>
            <p:cNvSpPr txBox="1"/>
            <p:nvPr userDrawn="1"/>
          </p:nvSpPr>
          <p:spPr>
            <a:xfrm>
              <a:off x="27975" y="340068"/>
              <a:ext cx="101427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8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WEB</a:t>
              </a:r>
              <a:r>
                <a:rPr lang="pt-BR" sz="28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 DESENVOLVIMENTO </a:t>
              </a:r>
              <a:endParaRPr lang="pt-BR" sz="28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F0D1C108-4B3C-4382-AA01-71505EE7572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249" y="850896"/>
              <a:ext cx="86427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196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537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6032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55" r:id="rId4"/>
    <p:sldLayoutId id="2147483653" r:id="rId5"/>
    <p:sldLayoutId id="2147483650" r:id="rId6"/>
    <p:sldLayoutId id="214748365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5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85F1300-331F-4646-8EFF-78012CADE0C6}"/>
              </a:ext>
            </a:extLst>
          </p:cNvPr>
          <p:cNvSpPr txBox="1"/>
          <p:nvPr/>
        </p:nvSpPr>
        <p:spPr>
          <a:xfrm>
            <a:off x="-8626" y="553893"/>
            <a:ext cx="1220062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Título: Como as APIs Funcionam por Baixo dos Panos?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Conteúdo do Slide:</a:t>
            </a: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Todas as APIs REST modernas que consumiremos na aula de hoje (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ViaCEP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PokeAPI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DummyJSON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Picsum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OCR Space) funcionam de forma assíncrona.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Execução em Segundo Plano: O navegador e o servidor da API não esperam um pelo outro. Quando disparando o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a requisição viaja pela rede e o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continua executando outros códigos no navegador.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Respostas Não Imediatas: Como a resposta do servidor leva tempo para trafegar na rede, o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utiliza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Promises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(.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ou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await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para processar os dados assim que eles chegam.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Fluida: Essa arquitetura garante que a tela não "trave" nem congele enquanto o sistema aguarda os dados do servidor.</a:t>
            </a:r>
          </a:p>
        </p:txBody>
      </p:sp>
    </p:spTree>
    <p:extLst>
      <p:ext uri="{BB962C8B-B14F-4D97-AF65-F5344CB8AC3E}">
        <p14:creationId xmlns:p14="http://schemas.microsoft.com/office/powerpoint/2010/main" val="4258354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35752D7-FFD8-430B-8582-58971C21C9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543277"/>
              </p:ext>
            </p:extLst>
          </p:nvPr>
        </p:nvGraphicFramePr>
        <p:xfrm>
          <a:off x="116457" y="1853075"/>
          <a:ext cx="10515600" cy="3434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57231459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321540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2400" b="1" dirty="0">
                          <a:effectLst/>
                          <a:latin typeface="Google Sans Text"/>
                        </a:rPr>
                        <a:t>O Que Fizemos Até Agora</a:t>
                      </a:r>
                      <a:endParaRPr lang="pt-BR" sz="2400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 dirty="0">
                          <a:effectLst/>
                          <a:latin typeface="Google Sans Text"/>
                        </a:rPr>
                        <a:t>O Que Faremos na Próxima Aula</a:t>
                      </a:r>
                      <a:endParaRPr lang="pt-BR" sz="2400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108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400" b="1" dirty="0">
                          <a:effectLst/>
                          <a:latin typeface="Google Sans Text"/>
                        </a:rPr>
                        <a:t>Apenas Leitura de Dados</a:t>
                      </a:r>
                      <a:endParaRPr lang="pt-BR" sz="2400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>
                          <a:effectLst/>
                          <a:latin typeface="Google Sans Text"/>
                        </a:rPr>
                        <a:t>Persistência e Manipulação de Dados</a:t>
                      </a:r>
                      <a:endParaRPr lang="pt-BR" sz="240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4164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400" dirty="0">
                          <a:effectLst/>
                          <a:latin typeface="Google Sans Text"/>
                        </a:rPr>
                        <a:t>Usaremos exclusivamente o método </a:t>
                      </a:r>
                      <a:r>
                        <a:rPr lang="pt-BR" sz="2400" b="1" dirty="0">
                          <a:effectLst/>
                          <a:latin typeface="Google Sans Text"/>
                        </a:rPr>
                        <a:t>GET</a:t>
                      </a:r>
                      <a:endParaRPr lang="pt-BR" sz="2400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effectLst/>
                          <a:latin typeface="Google Sans Text"/>
                        </a:rPr>
                        <a:t>Usaremos o ciclo </a:t>
                      </a:r>
                      <a:r>
                        <a:rPr lang="pt-BR" sz="2400" b="1">
                          <a:effectLst/>
                          <a:latin typeface="Google Sans Text"/>
                        </a:rPr>
                        <a:t>CRUD completo</a:t>
                      </a:r>
                      <a:r>
                        <a:rPr lang="pt-BR" sz="2400">
                          <a:effectLst/>
                          <a:latin typeface="Google Sans Text"/>
                        </a:rPr>
                        <a:t> (POST, PUT/PATCH, DELETE)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774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400" dirty="0">
                          <a:effectLst/>
                          <a:latin typeface="Google Sans Text"/>
                        </a:rPr>
                        <a:t>Buscaremos informações sem modificar o servidor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400">
                          <a:effectLst/>
                          <a:latin typeface="Google Sans Text"/>
                        </a:rPr>
                        <a:t>Enviaremos novos dados, editaremos registros e removeremos conteúdos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569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400" i="1" dirty="0">
                          <a:effectLst/>
                          <a:latin typeface="Google Sans Text"/>
                        </a:rPr>
                        <a:t>Exemplo:</a:t>
                      </a:r>
                      <a:r>
                        <a:rPr lang="pt-BR" sz="2400" dirty="0">
                          <a:effectLst/>
                          <a:latin typeface="Google Sans Text"/>
                        </a:rPr>
                        <a:t> Consultar um endereço por CEP ou listar usuários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i="1" dirty="0">
                          <a:effectLst/>
                          <a:latin typeface="Google Sans Text"/>
                        </a:rPr>
                        <a:t>Exemplo:</a:t>
                      </a:r>
                      <a:r>
                        <a:rPr lang="pt-BR" sz="2400" dirty="0">
                          <a:effectLst/>
                          <a:latin typeface="Google Sans Text"/>
                        </a:rPr>
                        <a:t> Cadastrar um novo usuário, alterar seu cargo e excluir sua conta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68461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99CD9A64-54F9-42F0-924E-E6841B20A7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626" y="551787"/>
            <a:ext cx="12042476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Slide 2: A Evolução da Nossa Aplicação (GET vs. CRUD Completo)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Título: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Onde Viemos vs. Para Onde Vamos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Tabela Comparativa:</a:t>
            </a: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223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2BE53FC-78A1-49BA-B791-B44AA4AF1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491092"/>
              </p:ext>
            </p:extLst>
          </p:nvPr>
        </p:nvGraphicFramePr>
        <p:xfrm>
          <a:off x="116457" y="2876026"/>
          <a:ext cx="10515600" cy="32512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3406359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53962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272495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b="1">
                          <a:effectLst/>
                          <a:latin typeface="Google Sans Text"/>
                        </a:rPr>
                        <a:t>Verbo HTTP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>
                          <a:effectLst/>
                          <a:latin typeface="Google Sans Text"/>
                        </a:rPr>
                        <a:t>Ação no Servidor (CRUD)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>
                          <a:effectLst/>
                          <a:latin typeface="Google Sans Text"/>
                        </a:rPr>
                        <a:t>Descrição Prática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116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b="1">
                          <a:effectLst/>
                          <a:latin typeface="Google Sans Text"/>
                        </a:rPr>
                        <a:t>GET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>
                          <a:effectLst/>
                          <a:latin typeface="Google Sans Text"/>
                        </a:rPr>
                        <a:t>Read</a:t>
                      </a:r>
                      <a:r>
                        <a:rPr lang="pt-BR">
                          <a:effectLst/>
                          <a:latin typeface="Google Sans Text"/>
                        </a:rPr>
                        <a:t> (Ler)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  <a:latin typeface="Google Sans Text"/>
                        </a:rPr>
                        <a:t>Busca e recupera informações do servidor sem alterar nada.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687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b="1" dirty="0">
                          <a:effectLst/>
                          <a:latin typeface="Google Sans Text"/>
                        </a:rPr>
                        <a:t>POST</a:t>
                      </a:r>
                      <a:endParaRPr lang="pt-BR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>
                          <a:effectLst/>
                          <a:latin typeface="Google Sans Text"/>
                        </a:rPr>
                        <a:t>Create</a:t>
                      </a:r>
                      <a:r>
                        <a:rPr lang="pt-BR">
                          <a:effectLst/>
                          <a:latin typeface="Google Sans Text"/>
                        </a:rPr>
                        <a:t> (Criar)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  <a:latin typeface="Google Sans Text"/>
                        </a:rPr>
                        <a:t>Envia um novo conjunto de dados no corpo da requisição para cadastrar um registro.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3903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b="1">
                          <a:effectLst/>
                          <a:latin typeface="Google Sans Text"/>
                        </a:rPr>
                        <a:t>PUT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>
                          <a:effectLst/>
                          <a:latin typeface="Google Sans Text"/>
                        </a:rPr>
                        <a:t>Update</a:t>
                      </a:r>
                      <a:r>
                        <a:rPr lang="pt-BR">
                          <a:effectLst/>
                          <a:latin typeface="Google Sans Text"/>
                        </a:rPr>
                        <a:t> (Atualizar)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  <a:latin typeface="Google Sans Text"/>
                        </a:rPr>
                        <a:t>Substitui ou atualiza um registro existente passando os novos dados.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7068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b="1">
                          <a:effectLst/>
                          <a:latin typeface="Google Sans Text"/>
                        </a:rPr>
                        <a:t>DELETE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>
                          <a:effectLst/>
                          <a:latin typeface="Google Sans Text"/>
                        </a:rPr>
                        <a:t>Delete</a:t>
                      </a:r>
                      <a:r>
                        <a:rPr lang="pt-BR">
                          <a:effectLst/>
                          <a:latin typeface="Google Sans Text"/>
                        </a:rPr>
                        <a:t> (Excluir)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effectLst/>
                          <a:latin typeface="Google Sans Text"/>
                        </a:rPr>
                        <a:t>Remove um registro específico do servidor com base no seu ID.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345763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911C36A-AE8F-4DBB-85EA-AF764877F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0" y="550372"/>
            <a:ext cx="12181259" cy="2477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Resumo dos outros protocolos listados na imagem para referência de aula:</a:t>
            </a:r>
            <a:b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SOAP: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Não foca nesses verbos HTTP de forma semântica; utiliza mensagens em formato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envelopadas.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GraphQL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Utiliza praticamente apenas requisições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enviando uma consulta personalizada no corpo para pedir campos específicos.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Utiliza conexões persistentes bidirecionais e protocolos de transporte em tempo real, sem se limitar ao modelo tradicional de requisição/resposta do HTTP.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230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85F1300-331F-4646-8EFF-78012CADE0C6}"/>
              </a:ext>
            </a:extLst>
          </p:cNvPr>
          <p:cNvSpPr txBox="1"/>
          <p:nvPr/>
        </p:nvSpPr>
        <p:spPr>
          <a:xfrm>
            <a:off x="-8626" y="553893"/>
            <a:ext cx="1186419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TIPOS DE APIS </a:t>
            </a:r>
          </a:p>
          <a:p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Quanto ao Acesso / Tipo de Negócio</a:t>
            </a:r>
            <a:b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classificação mais importante para os alunos entenderem onde as APIs são aplicadas:</a:t>
            </a:r>
            <a:b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Públicas (Abertas / Open APIs):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ViaCEP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OpenWeather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API do GitHub).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Privadas (Internas):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conectar o sistema de RH com o de folha de pagamento).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de Parceiros (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Partner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APIs):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APIs bancárias B2B, gateways de pagamento).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Compostas (</a:t>
            </a:r>
            <a:r>
              <a:rPr 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Composite</a:t>
            </a:r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APIs):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Unificam múltiplos </a:t>
            </a:r>
            <a:r>
              <a:rPr lang="pt-B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9616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D2487EA-CB89-473F-8CF0-BB79D734AAFE}"/>
              </a:ext>
            </a:extLst>
          </p:cNvPr>
          <p:cNvSpPr txBox="1"/>
          <p:nvPr/>
        </p:nvSpPr>
        <p:spPr>
          <a:xfrm>
            <a:off x="0" y="552463"/>
            <a:ext cx="1230126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Quanto ao Protocolo / Estilo de Arquitetura como a comunicação é estruturada na web: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/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RESTful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Representational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padrão da web moderna. Utiliza verbos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(GET, POST, PUT, DELETE)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envia dados em formato JSON e possui excelente desempenho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(Foco total da nossa aula).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SOAP (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Padrão legado/corporativo rígido baseado em mensagens XML, muito utilizado por bancos e sistemas legados de alta segurança.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GraphQL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Desenvolvido pelo Meta, permite que o cliente solicite exatamente os campos de que precisa em uma única requisição, evitando transferência excessiva de dados (over-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fetching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WebSockets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gRPC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Utilizados para comunicação bidirecional em tempo real (chats, jogos online, cotações financeiras ao vivo).</a:t>
            </a:r>
          </a:p>
        </p:txBody>
      </p:sp>
    </p:spTree>
    <p:extLst>
      <p:ext uri="{BB962C8B-B14F-4D97-AF65-F5344CB8AC3E}">
        <p14:creationId xmlns:p14="http://schemas.microsoft.com/office/powerpoint/2010/main" val="640381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D2487EA-CB89-473F-8CF0-BB79D734AAFE}"/>
              </a:ext>
            </a:extLst>
          </p:cNvPr>
          <p:cNvSpPr txBox="1"/>
          <p:nvPr/>
        </p:nvSpPr>
        <p:spPr>
          <a:xfrm>
            <a:off x="0" y="552463"/>
            <a:ext cx="1230126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 Papel do JSON na Comunicação Web:</a:t>
            </a:r>
          </a:p>
          <a:p>
            <a:endParaRPr lang="pt-BR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JSON é um formato leve de estruturação de dados baseado em pares de chave: valor. Quando o navegador faz uma requisição HTTP 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para uma API, o servidor responde enviando as informações formatadas como JSON.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 de Resposta de uma API em JSON: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"status": 200,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usuario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"Antonio Cruz",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"turma": "1ESSRA",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"ativo":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"disciplinas": ["Desenvolvimento Web", "Lógica Dinâmica"]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0963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D2487EA-CB89-473F-8CF0-BB79D734AAFE}"/>
              </a:ext>
            </a:extLst>
          </p:cNvPr>
          <p:cNvSpPr txBox="1"/>
          <p:nvPr/>
        </p:nvSpPr>
        <p:spPr>
          <a:xfrm>
            <a:off x="0" y="552463"/>
            <a:ext cx="12301268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Por Que o JSON É o Padrão do Mercado?</a:t>
            </a:r>
            <a:b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Independência de Linguagem: Pode ser gerado por um servidor em Python, Java ou C# e lido diretamente por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navegador.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Leitura Simples: É fácil de ler tanto por humanos quanto por máquinas.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Integração Nativa com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 navegador converte um texto JSON em um objeto nativo do JS de forma instantânea usando o método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JSON.parse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5743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D2487EA-CB89-473F-8CF0-BB79D734AAFE}"/>
              </a:ext>
            </a:extLst>
          </p:cNvPr>
          <p:cNvSpPr txBox="1"/>
          <p:nvPr/>
        </p:nvSpPr>
        <p:spPr>
          <a:xfrm>
            <a:off x="0" y="552463"/>
            <a:ext cx="12301268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Sintaxe Prática: Consumindo JSON de uma API no JS</a:t>
            </a:r>
            <a:br>
              <a:rPr 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fluxo real do Checkpoint 2, o método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busca a resposta da API e o método .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converte essa resposta bruta em um objeto utilizável pelo código:</a:t>
            </a:r>
          </a:p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Buscando dados de uma API externa</a:t>
            </a:r>
          </a:p>
          <a:p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("https://viacep.com.br/ws/01001000/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/")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(resposta =&gt;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resposta.json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// Converte a resposta HTTP em objeto JSON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.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(dados =&gt; {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Acessando as chaves do JSON retornado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console.log("Logradouro:",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dados.logradouro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console.log("Bairro:",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dados.bairro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});</a:t>
            </a: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 resumo: A API traz o transporte e a regra de negócio; o JSON é o idioma padrão em que a mensagem é entregue.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22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03A9F873-01A9-43CE-9072-25E91F7DA04D}"/>
              </a:ext>
            </a:extLst>
          </p:cNvPr>
          <p:cNvGrpSpPr/>
          <p:nvPr/>
        </p:nvGrpSpPr>
        <p:grpSpPr>
          <a:xfrm>
            <a:off x="5442820" y="4930719"/>
            <a:ext cx="6733830" cy="1991659"/>
            <a:chOff x="5442820" y="4551585"/>
            <a:chExt cx="6733830" cy="1991659"/>
          </a:xfrm>
        </p:grpSpPr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C9219349-C52F-4A93-8513-224CD0AEDF47}"/>
                </a:ext>
              </a:extLst>
            </p:cNvPr>
            <p:cNvSpPr txBox="1"/>
            <p:nvPr/>
          </p:nvSpPr>
          <p:spPr>
            <a:xfrm>
              <a:off x="5442820" y="5219805"/>
              <a:ext cx="6733830" cy="1323439"/>
            </a:xfrm>
            <a:prstGeom prst="rect">
              <a:avLst/>
            </a:prstGeom>
            <a:noFill/>
            <a:effectLst>
              <a:softEdge rad="114300"/>
            </a:effectLst>
          </p:spPr>
          <p:txBody>
            <a:bodyPr wrap="square">
              <a:spAutoFit/>
            </a:bodyPr>
            <a:lstStyle/>
            <a:p>
              <a:r>
                <a:rPr lang="pt-BR" sz="80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PERGUNTAS???</a:t>
              </a:r>
              <a:endParaRPr lang="pt-BR" sz="8000" b="1" dirty="0"/>
            </a:p>
          </p:txBody>
        </p:sp>
        <p:sp>
          <p:nvSpPr>
            <p:cNvPr id="12" name="Título 1">
              <a:extLst>
                <a:ext uri="{FF2B5EF4-FFF2-40B4-BE49-F238E27FC236}">
                  <a16:creationId xmlns:a16="http://schemas.microsoft.com/office/drawing/2014/main" id="{E3255C86-6FD8-4152-8291-2D7040D65F31}"/>
                </a:ext>
              </a:extLst>
            </p:cNvPr>
            <p:cNvSpPr txBox="1">
              <a:spLocks/>
            </p:cNvSpPr>
            <p:nvPr/>
          </p:nvSpPr>
          <p:spPr>
            <a:xfrm>
              <a:off x="5442820" y="5184761"/>
              <a:ext cx="4020357" cy="225995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defPPr rtl="0"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2400" dirty="0"/>
                <a:t>profantonio.cruz@fiap.com.br</a:t>
              </a:r>
              <a:endParaRPr lang="pt-br" sz="2400" dirty="0"/>
            </a:p>
          </p:txBody>
        </p: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D8D74F1A-AAAC-4A0B-996C-A179DB6E4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2820" y="4551585"/>
              <a:ext cx="451917" cy="451917"/>
            </a:xfrm>
            <a:prstGeom prst="rect">
              <a:avLst/>
            </a:prstGeom>
          </p:spPr>
        </p:pic>
        <p:sp>
          <p:nvSpPr>
            <p:cNvPr id="14" name="Título 1">
              <a:extLst>
                <a:ext uri="{FF2B5EF4-FFF2-40B4-BE49-F238E27FC236}">
                  <a16:creationId xmlns:a16="http://schemas.microsoft.com/office/drawing/2014/main" id="{2E16270C-1DE1-4F21-924B-6CAC6CFC09E2}"/>
                </a:ext>
              </a:extLst>
            </p:cNvPr>
            <p:cNvSpPr txBox="1">
              <a:spLocks/>
            </p:cNvSpPr>
            <p:nvPr/>
          </p:nvSpPr>
          <p:spPr>
            <a:xfrm>
              <a:off x="5855417" y="4656643"/>
              <a:ext cx="3836453" cy="311815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defPPr rtl="0"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2400" b="1" dirty="0"/>
                <a:t>Profissional:</a:t>
              </a:r>
              <a:endParaRPr lang="pt-br" sz="2400" b="1" dirty="0"/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CA2AE6D-8CE8-4E18-A7AD-549FF7C272E2}"/>
              </a:ext>
            </a:extLst>
          </p:cNvPr>
          <p:cNvSpPr txBox="1"/>
          <p:nvPr/>
        </p:nvSpPr>
        <p:spPr>
          <a:xfrm>
            <a:off x="0" y="1046084"/>
            <a:ext cx="73336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i="1" dirty="0">
                <a:effectLst/>
                <a:latin typeface="+mj-lt"/>
              </a:rPr>
              <a:t>“O entendimento do passado nos oferece um parâmetro para projetarmos o futuro, mas é o presente que revela a real situação do nosso progresso. Por isso, tenha total acuidade ao seu hoje.”</a:t>
            </a:r>
            <a:r>
              <a:rPr lang="pt-BR" sz="2400" i="1" dirty="0">
                <a:latin typeface="+mj-lt"/>
              </a:rPr>
              <a:t> </a:t>
            </a:r>
            <a:r>
              <a:rPr lang="pt-BR" sz="2400" dirty="0"/>
              <a:t>— Antonio Cruz</a:t>
            </a:r>
            <a:endParaRPr lang="pt-BR" sz="2400" i="1" dirty="0"/>
          </a:p>
        </p:txBody>
      </p:sp>
    </p:spTree>
    <p:extLst>
      <p:ext uri="{BB962C8B-B14F-4D97-AF65-F5344CB8AC3E}">
        <p14:creationId xmlns:p14="http://schemas.microsoft.com/office/powerpoint/2010/main" val="13339123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8553</TotalTime>
  <Words>1030</Words>
  <Application>Microsoft Office PowerPoint</Application>
  <PresentationFormat>Widescreen</PresentationFormat>
  <Paragraphs>95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Arial Rounded MT Bold</vt:lpstr>
      <vt:lpstr>Calibri</vt:lpstr>
      <vt:lpstr>Calibri Light</vt:lpstr>
      <vt:lpstr>Google Sans Text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MEUCOMPUTADOR</dc:creator>
  <cp:lastModifiedBy>Antonio Carlos Teixeira Cruz</cp:lastModifiedBy>
  <cp:revision>255</cp:revision>
  <cp:lastPrinted>2026-08-06T13:08:12Z</cp:lastPrinted>
  <dcterms:created xsi:type="dcterms:W3CDTF">2026-03-25T01:38:16Z</dcterms:created>
  <dcterms:modified xsi:type="dcterms:W3CDTF">2026-09-10T02:35:22Z</dcterms:modified>
</cp:coreProperties>
</file>