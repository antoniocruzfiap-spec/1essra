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73" r:id="rId3"/>
    <p:sldId id="274" r:id="rId4"/>
    <p:sldId id="276" r:id="rId5"/>
    <p:sldId id="275" r:id="rId6"/>
    <p:sldId id="277" r:id="rId7"/>
    <p:sldId id="278" r:id="rId8"/>
    <p:sldId id="279" r:id="rId9"/>
    <p:sldId id="280" r:id="rId10"/>
    <p:sldId id="265" r:id="rId1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tônio Carlos Teixeira Cruz" initials="ACTC" lastIdx="1" clrIdx="0">
    <p:extLst>
      <p:ext uri="{19B8F6BF-5375-455C-9EA6-DF929625EA0E}">
        <p15:presenceInfo xmlns:p15="http://schemas.microsoft.com/office/powerpoint/2012/main" userId="S::antonio.cruz@fiocruz.br::0803d401-93ac-4d36-9097-76398d6f284d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155E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17" autoAdjust="0"/>
    <p:restoredTop sz="94610" autoAdjust="0"/>
  </p:normalViewPr>
  <p:slideViewPr>
    <p:cSldViewPr snapToGrid="0">
      <p:cViewPr varScale="1">
        <p:scale>
          <a:sx n="74" d="100"/>
          <a:sy n="74" d="100"/>
        </p:scale>
        <p:origin x="49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0" d="100"/>
          <a:sy n="50" d="100"/>
        </p:scale>
        <p:origin x="2708" y="2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F02461-836B-4658-B905-5F99199145BE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7AEBFE-B21E-4BAA-A5CD-0AC40EED26E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19938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aixaDeTexto 11">
            <a:extLst>
              <a:ext uri="{FF2B5EF4-FFF2-40B4-BE49-F238E27FC236}">
                <a16:creationId xmlns:a16="http://schemas.microsoft.com/office/drawing/2014/main" id="{0BFD1603-D2DC-44D2-AD9B-6D739C0466EB}"/>
              </a:ext>
            </a:extLst>
          </p:cNvPr>
          <p:cNvSpPr txBox="1"/>
          <p:nvPr userDrawn="1"/>
        </p:nvSpPr>
        <p:spPr>
          <a:xfrm>
            <a:off x="4658629" y="1089898"/>
            <a:ext cx="305120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96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WEB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DF4ECAC6-D94C-4410-8B19-172AFB8642B0}"/>
              </a:ext>
            </a:extLst>
          </p:cNvPr>
          <p:cNvSpPr txBox="1"/>
          <p:nvPr userDrawn="1"/>
        </p:nvSpPr>
        <p:spPr>
          <a:xfrm>
            <a:off x="824697" y="2659558"/>
            <a:ext cx="1054260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4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DESENVOLVIMENTO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13B1673D-CAAA-4702-B672-FC80BAD4FAD9}"/>
              </a:ext>
            </a:extLst>
          </p:cNvPr>
          <p:cNvSpPr txBox="1"/>
          <p:nvPr userDrawn="1"/>
        </p:nvSpPr>
        <p:spPr>
          <a:xfrm>
            <a:off x="9102902" y="6204031"/>
            <a:ext cx="30822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600" dirty="0" err="1">
                <a:solidFill>
                  <a:schemeClr val="tx1"/>
                </a:solidFill>
                <a:latin typeface="Arial Rounded MT Bold" panose="020F0704030504030204" pitchFamily="34" charset="0"/>
              </a:rPr>
              <a:t>Antonio</a:t>
            </a:r>
            <a:r>
              <a:rPr lang="pt-BR" sz="36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 Cruz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AB30EDA2-963D-40CE-9725-CA7FB2508F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2302" y="6203154"/>
            <a:ext cx="2350068" cy="723724"/>
          </a:xfrm>
          <a:prstGeom prst="rect">
            <a:avLst/>
          </a:prstGeom>
          <a:effectLst>
            <a:softEdge rad="127000"/>
          </a:effectLst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A330F821-BF76-4EC7-A967-C377533AE39B}"/>
              </a:ext>
            </a:extLst>
          </p:cNvPr>
          <p:cNvSpPr txBox="1"/>
          <p:nvPr userDrawn="1"/>
        </p:nvSpPr>
        <p:spPr>
          <a:xfrm>
            <a:off x="2424647" y="4035889"/>
            <a:ext cx="790234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dirty="0"/>
              <a:t>Revisão Primeiro Semestre e Introdução ao DOM</a:t>
            </a:r>
          </a:p>
        </p:txBody>
      </p:sp>
    </p:spTree>
    <p:extLst>
      <p:ext uri="{BB962C8B-B14F-4D97-AF65-F5344CB8AC3E}">
        <p14:creationId xmlns:p14="http://schemas.microsoft.com/office/powerpoint/2010/main" val="26365065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aixaDeTexto 17">
            <a:extLst>
              <a:ext uri="{FF2B5EF4-FFF2-40B4-BE49-F238E27FC236}">
                <a16:creationId xmlns:a16="http://schemas.microsoft.com/office/drawing/2014/main" id="{13B1673D-CAAA-4702-B672-FC80BAD4FAD9}"/>
              </a:ext>
            </a:extLst>
          </p:cNvPr>
          <p:cNvSpPr txBox="1"/>
          <p:nvPr userDrawn="1"/>
        </p:nvSpPr>
        <p:spPr>
          <a:xfrm>
            <a:off x="9102902" y="6204031"/>
            <a:ext cx="30822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600" dirty="0" err="1">
                <a:solidFill>
                  <a:schemeClr val="tx1"/>
                </a:solidFill>
                <a:latin typeface="Arial Rounded MT Bold" panose="020F0704030504030204" pitchFamily="34" charset="0"/>
              </a:rPr>
              <a:t>Antonio</a:t>
            </a:r>
            <a:r>
              <a:rPr lang="pt-BR" sz="36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 Cruz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AB30EDA2-963D-40CE-9725-CA7FB2508F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2302" y="6203154"/>
            <a:ext cx="2350068" cy="723724"/>
          </a:xfrm>
          <a:prstGeom prst="rect">
            <a:avLst/>
          </a:prstGeom>
          <a:effectLst>
            <a:softEdge rad="127000"/>
          </a:effectLst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A330F821-BF76-4EC7-A967-C377533AE39B}"/>
              </a:ext>
            </a:extLst>
          </p:cNvPr>
          <p:cNvSpPr txBox="1"/>
          <p:nvPr userDrawn="1"/>
        </p:nvSpPr>
        <p:spPr>
          <a:xfrm>
            <a:off x="3959191" y="1607453"/>
            <a:ext cx="427361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8000" dirty="0"/>
              <a:t>Sejam</a:t>
            </a:r>
          </a:p>
        </p:txBody>
      </p:sp>
      <p:grpSp>
        <p:nvGrpSpPr>
          <p:cNvPr id="9" name="Agrupar 8">
            <a:extLst>
              <a:ext uri="{FF2B5EF4-FFF2-40B4-BE49-F238E27FC236}">
                <a16:creationId xmlns:a16="http://schemas.microsoft.com/office/drawing/2014/main" id="{9B9C9351-4AD6-44DC-8CA4-D2E6114C0D05}"/>
              </a:ext>
            </a:extLst>
          </p:cNvPr>
          <p:cNvGrpSpPr/>
          <p:nvPr userDrawn="1"/>
        </p:nvGrpSpPr>
        <p:grpSpPr>
          <a:xfrm>
            <a:off x="18350" y="12813"/>
            <a:ext cx="10142791" cy="523220"/>
            <a:chOff x="27975" y="340068"/>
            <a:chExt cx="10142791" cy="523220"/>
          </a:xfrm>
        </p:grpSpPr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C0155960-622F-470D-B347-BB46D20544CB}"/>
                </a:ext>
              </a:extLst>
            </p:cNvPr>
            <p:cNvSpPr txBox="1"/>
            <p:nvPr userDrawn="1"/>
          </p:nvSpPr>
          <p:spPr>
            <a:xfrm>
              <a:off x="27975" y="340068"/>
              <a:ext cx="10142791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BR" sz="28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WEB</a:t>
              </a:r>
              <a:r>
                <a:rPr lang="pt-BR" sz="2800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 DESENVOLVIMENTO </a:t>
              </a:r>
              <a:endParaRPr lang="pt-BR" sz="28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cxnSp>
          <p:nvCxnSpPr>
            <p:cNvPr id="14" name="Conector reto 13">
              <a:extLst>
                <a:ext uri="{FF2B5EF4-FFF2-40B4-BE49-F238E27FC236}">
                  <a16:creationId xmlns:a16="http://schemas.microsoft.com/office/drawing/2014/main" id="{6A1E6FC2-9CDD-4A9D-9BE4-DDB31B25BE5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8249" y="850896"/>
              <a:ext cx="8642765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29B7BF9C-4523-4D09-B479-47E638305162}"/>
              </a:ext>
            </a:extLst>
          </p:cNvPr>
          <p:cNvSpPr txBox="1"/>
          <p:nvPr userDrawn="1"/>
        </p:nvSpPr>
        <p:spPr>
          <a:xfrm>
            <a:off x="2940211" y="2930892"/>
            <a:ext cx="631157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8000" dirty="0"/>
              <a:t>Bem – Vindos!</a:t>
            </a:r>
          </a:p>
        </p:txBody>
      </p:sp>
    </p:spTree>
    <p:extLst>
      <p:ext uri="{BB962C8B-B14F-4D97-AF65-F5344CB8AC3E}">
        <p14:creationId xmlns:p14="http://schemas.microsoft.com/office/powerpoint/2010/main" val="3809625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aixaDeTexto 17">
            <a:extLst>
              <a:ext uri="{FF2B5EF4-FFF2-40B4-BE49-F238E27FC236}">
                <a16:creationId xmlns:a16="http://schemas.microsoft.com/office/drawing/2014/main" id="{13B1673D-CAAA-4702-B672-FC80BAD4FAD9}"/>
              </a:ext>
            </a:extLst>
          </p:cNvPr>
          <p:cNvSpPr txBox="1"/>
          <p:nvPr userDrawn="1"/>
        </p:nvSpPr>
        <p:spPr>
          <a:xfrm>
            <a:off x="9102902" y="6204031"/>
            <a:ext cx="30822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600" dirty="0" err="1">
                <a:solidFill>
                  <a:schemeClr val="tx1"/>
                </a:solidFill>
                <a:latin typeface="Arial Rounded MT Bold" panose="020F0704030504030204" pitchFamily="34" charset="0"/>
              </a:rPr>
              <a:t>Antonio</a:t>
            </a:r>
            <a:r>
              <a:rPr lang="pt-BR" sz="36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 Cruz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AB30EDA2-963D-40CE-9725-CA7FB2508F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2302" y="6203154"/>
            <a:ext cx="2350068" cy="723724"/>
          </a:xfrm>
          <a:prstGeom prst="rect">
            <a:avLst/>
          </a:prstGeom>
          <a:effectLst>
            <a:softEdge rad="127000"/>
          </a:effectLst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A330F821-BF76-4EC7-A967-C377533AE39B}"/>
              </a:ext>
            </a:extLst>
          </p:cNvPr>
          <p:cNvSpPr txBox="1"/>
          <p:nvPr userDrawn="1"/>
        </p:nvSpPr>
        <p:spPr>
          <a:xfrm>
            <a:off x="3742622" y="2538596"/>
            <a:ext cx="509176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800" dirty="0"/>
              <a:t>Primeiro Semestre</a:t>
            </a:r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81BCAFFA-875D-4880-A29C-519083084C5A}"/>
              </a:ext>
            </a:extLst>
          </p:cNvPr>
          <p:cNvGrpSpPr/>
          <p:nvPr userDrawn="1"/>
        </p:nvGrpSpPr>
        <p:grpSpPr>
          <a:xfrm>
            <a:off x="18350" y="12813"/>
            <a:ext cx="10142791" cy="523220"/>
            <a:chOff x="27975" y="340068"/>
            <a:chExt cx="10142791" cy="523220"/>
          </a:xfrm>
        </p:grpSpPr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id="{62C6F7A1-4B43-421A-AE27-DA4D9AEB594B}"/>
                </a:ext>
              </a:extLst>
            </p:cNvPr>
            <p:cNvSpPr txBox="1"/>
            <p:nvPr userDrawn="1"/>
          </p:nvSpPr>
          <p:spPr>
            <a:xfrm>
              <a:off x="27975" y="340068"/>
              <a:ext cx="10142791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BR" sz="28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WEB</a:t>
              </a:r>
              <a:r>
                <a:rPr lang="pt-BR" sz="2800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 DESENVOLVIMENTO </a:t>
              </a:r>
              <a:endParaRPr lang="pt-BR" sz="28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cxnSp>
          <p:nvCxnSpPr>
            <p:cNvPr id="7" name="Conector reto 6">
              <a:extLst>
                <a:ext uri="{FF2B5EF4-FFF2-40B4-BE49-F238E27FC236}">
                  <a16:creationId xmlns:a16="http://schemas.microsoft.com/office/drawing/2014/main" id="{8D4A9569-2EFA-4A44-A37D-7D0DD07B256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8249" y="850896"/>
              <a:ext cx="8642765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957060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aixaDeTexto 17">
            <a:extLst>
              <a:ext uri="{FF2B5EF4-FFF2-40B4-BE49-F238E27FC236}">
                <a16:creationId xmlns:a16="http://schemas.microsoft.com/office/drawing/2014/main" id="{13B1673D-CAAA-4702-B672-FC80BAD4FAD9}"/>
              </a:ext>
            </a:extLst>
          </p:cNvPr>
          <p:cNvSpPr txBox="1"/>
          <p:nvPr userDrawn="1"/>
        </p:nvSpPr>
        <p:spPr>
          <a:xfrm>
            <a:off x="9102902" y="6204031"/>
            <a:ext cx="30822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600" dirty="0" err="1">
                <a:solidFill>
                  <a:schemeClr val="tx1"/>
                </a:solidFill>
                <a:latin typeface="Arial Rounded MT Bold" panose="020F0704030504030204" pitchFamily="34" charset="0"/>
              </a:rPr>
              <a:t>Antonio</a:t>
            </a:r>
            <a:r>
              <a:rPr lang="pt-BR" sz="36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 Cruz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AB30EDA2-963D-40CE-9725-CA7FB2508F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2302" y="6203154"/>
            <a:ext cx="2350068" cy="723724"/>
          </a:xfrm>
          <a:prstGeom prst="rect">
            <a:avLst/>
          </a:prstGeom>
          <a:effectLst>
            <a:softEdge rad="127000"/>
          </a:effectLst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A330F821-BF76-4EC7-A967-C377533AE39B}"/>
              </a:ext>
            </a:extLst>
          </p:cNvPr>
          <p:cNvSpPr txBox="1"/>
          <p:nvPr userDrawn="1"/>
        </p:nvSpPr>
        <p:spPr>
          <a:xfrm>
            <a:off x="3742622" y="2538596"/>
            <a:ext cx="509176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800" dirty="0"/>
              <a:t>Segundo Semestre</a:t>
            </a:r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81BCAFFA-875D-4880-A29C-519083084C5A}"/>
              </a:ext>
            </a:extLst>
          </p:cNvPr>
          <p:cNvGrpSpPr/>
          <p:nvPr userDrawn="1"/>
        </p:nvGrpSpPr>
        <p:grpSpPr>
          <a:xfrm>
            <a:off x="18350" y="12813"/>
            <a:ext cx="10142791" cy="523220"/>
            <a:chOff x="27975" y="340068"/>
            <a:chExt cx="10142791" cy="523220"/>
          </a:xfrm>
        </p:grpSpPr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id="{62C6F7A1-4B43-421A-AE27-DA4D9AEB594B}"/>
                </a:ext>
              </a:extLst>
            </p:cNvPr>
            <p:cNvSpPr txBox="1"/>
            <p:nvPr userDrawn="1"/>
          </p:nvSpPr>
          <p:spPr>
            <a:xfrm>
              <a:off x="27975" y="340068"/>
              <a:ext cx="10142791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BR" sz="28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WEB</a:t>
              </a:r>
              <a:r>
                <a:rPr lang="pt-BR" sz="2800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 DESENVOLVIMENTO </a:t>
              </a:r>
              <a:endParaRPr lang="pt-BR" sz="28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cxnSp>
          <p:nvCxnSpPr>
            <p:cNvPr id="7" name="Conector reto 6">
              <a:extLst>
                <a:ext uri="{FF2B5EF4-FFF2-40B4-BE49-F238E27FC236}">
                  <a16:creationId xmlns:a16="http://schemas.microsoft.com/office/drawing/2014/main" id="{8D4A9569-2EFA-4A44-A37D-7D0DD07B256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8249" y="850896"/>
              <a:ext cx="8642765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17057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aixaDeTexto 17">
            <a:extLst>
              <a:ext uri="{FF2B5EF4-FFF2-40B4-BE49-F238E27FC236}">
                <a16:creationId xmlns:a16="http://schemas.microsoft.com/office/drawing/2014/main" id="{13B1673D-CAAA-4702-B672-FC80BAD4FAD9}"/>
              </a:ext>
            </a:extLst>
          </p:cNvPr>
          <p:cNvSpPr txBox="1"/>
          <p:nvPr userDrawn="1"/>
        </p:nvSpPr>
        <p:spPr>
          <a:xfrm>
            <a:off x="9102902" y="6204031"/>
            <a:ext cx="30822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600" dirty="0" err="1">
                <a:solidFill>
                  <a:schemeClr val="tx1"/>
                </a:solidFill>
                <a:latin typeface="Arial Rounded MT Bold" panose="020F0704030504030204" pitchFamily="34" charset="0"/>
              </a:rPr>
              <a:t>Antonio</a:t>
            </a:r>
            <a:r>
              <a:rPr lang="pt-BR" sz="36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 Cruz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AB30EDA2-963D-40CE-9725-CA7FB2508F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2302" y="6203154"/>
            <a:ext cx="2350068" cy="723724"/>
          </a:xfrm>
          <a:prstGeom prst="rect">
            <a:avLst/>
          </a:prstGeom>
          <a:effectLst>
            <a:softEdge rad="127000"/>
          </a:effectLst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A330F821-BF76-4EC7-A967-C377533AE39B}"/>
              </a:ext>
            </a:extLst>
          </p:cNvPr>
          <p:cNvSpPr txBox="1"/>
          <p:nvPr userDrawn="1"/>
        </p:nvSpPr>
        <p:spPr>
          <a:xfrm>
            <a:off x="3752247" y="2823107"/>
            <a:ext cx="509176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800" dirty="0"/>
              <a:t>Introdução ao DOM</a:t>
            </a:r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055816A5-D6A6-41B3-BA2E-F921AAAC95B0}"/>
              </a:ext>
            </a:extLst>
          </p:cNvPr>
          <p:cNvGrpSpPr/>
          <p:nvPr userDrawn="1"/>
        </p:nvGrpSpPr>
        <p:grpSpPr>
          <a:xfrm>
            <a:off x="18350" y="12813"/>
            <a:ext cx="10142791" cy="523220"/>
            <a:chOff x="27975" y="340068"/>
            <a:chExt cx="10142791" cy="523220"/>
          </a:xfrm>
        </p:grpSpPr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id="{72166FB9-4846-460E-940E-BE3CB38D026F}"/>
                </a:ext>
              </a:extLst>
            </p:cNvPr>
            <p:cNvSpPr txBox="1"/>
            <p:nvPr userDrawn="1"/>
          </p:nvSpPr>
          <p:spPr>
            <a:xfrm>
              <a:off x="27975" y="340068"/>
              <a:ext cx="10142791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BR" sz="28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WEB</a:t>
              </a:r>
              <a:r>
                <a:rPr lang="pt-BR" sz="2800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 DESENVOLVIMENTO </a:t>
              </a:r>
              <a:endParaRPr lang="pt-BR" sz="28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cxnSp>
          <p:nvCxnSpPr>
            <p:cNvPr id="7" name="Conector reto 6">
              <a:extLst>
                <a:ext uri="{FF2B5EF4-FFF2-40B4-BE49-F238E27FC236}">
                  <a16:creationId xmlns:a16="http://schemas.microsoft.com/office/drawing/2014/main" id="{21188AFC-F664-4DA7-87AB-9FCDF4EB91E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8249" y="850896"/>
              <a:ext cx="8642765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35835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>
            <a:extLst>
              <a:ext uri="{FF2B5EF4-FFF2-40B4-BE49-F238E27FC236}">
                <a16:creationId xmlns:a16="http://schemas.microsoft.com/office/drawing/2014/main" id="{A98FBD92-CE5F-443B-93C2-B6E358FE967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2302" y="6203154"/>
            <a:ext cx="2350068" cy="723724"/>
          </a:xfrm>
          <a:prstGeom prst="rect">
            <a:avLst/>
          </a:prstGeom>
          <a:effectLst>
            <a:softEdge rad="127000"/>
          </a:effectLst>
        </p:spPr>
      </p:pic>
      <p:grpSp>
        <p:nvGrpSpPr>
          <p:cNvPr id="18" name="Agrupar 17">
            <a:extLst>
              <a:ext uri="{FF2B5EF4-FFF2-40B4-BE49-F238E27FC236}">
                <a16:creationId xmlns:a16="http://schemas.microsoft.com/office/drawing/2014/main" id="{06C16729-FFD3-4CAA-8D42-3350A82F65E2}"/>
              </a:ext>
            </a:extLst>
          </p:cNvPr>
          <p:cNvGrpSpPr/>
          <p:nvPr userDrawn="1"/>
        </p:nvGrpSpPr>
        <p:grpSpPr>
          <a:xfrm>
            <a:off x="18350" y="12813"/>
            <a:ext cx="10142791" cy="523220"/>
            <a:chOff x="27975" y="340068"/>
            <a:chExt cx="10142791" cy="523220"/>
          </a:xfrm>
        </p:grpSpPr>
        <p:sp>
          <p:nvSpPr>
            <p:cNvPr id="19" name="CaixaDeTexto 18">
              <a:extLst>
                <a:ext uri="{FF2B5EF4-FFF2-40B4-BE49-F238E27FC236}">
                  <a16:creationId xmlns:a16="http://schemas.microsoft.com/office/drawing/2014/main" id="{8A673F9D-498C-44E1-88C4-44B4CED29890}"/>
                </a:ext>
              </a:extLst>
            </p:cNvPr>
            <p:cNvSpPr txBox="1"/>
            <p:nvPr userDrawn="1"/>
          </p:nvSpPr>
          <p:spPr>
            <a:xfrm>
              <a:off x="27975" y="340068"/>
              <a:ext cx="10142791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BR" sz="28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WEB</a:t>
              </a:r>
              <a:r>
                <a:rPr lang="pt-BR" sz="2800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 DESENVOLVIMENTO </a:t>
              </a:r>
              <a:endParaRPr lang="pt-BR" sz="28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cxnSp>
          <p:nvCxnSpPr>
            <p:cNvPr id="20" name="Conector reto 19">
              <a:extLst>
                <a:ext uri="{FF2B5EF4-FFF2-40B4-BE49-F238E27FC236}">
                  <a16:creationId xmlns:a16="http://schemas.microsoft.com/office/drawing/2014/main" id="{F0D1C108-4B3C-4382-AA01-71505EE7572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8249" y="850896"/>
              <a:ext cx="8642765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41960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5378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96032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4" r:id="rId3"/>
    <p:sldLayoutId id="2147483655" r:id="rId4"/>
    <p:sldLayoutId id="2147483653" r:id="rId5"/>
    <p:sldLayoutId id="2147483650" r:id="rId6"/>
    <p:sldLayoutId id="2147483651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1599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88FD6603-769F-4699-8E38-B5C49C39EC14}"/>
              </a:ext>
            </a:extLst>
          </p:cNvPr>
          <p:cNvSpPr txBox="1"/>
          <p:nvPr/>
        </p:nvSpPr>
        <p:spPr>
          <a:xfrm>
            <a:off x="5374257" y="148374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33832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88FD6603-769F-4699-8E38-B5C49C39EC14}"/>
              </a:ext>
            </a:extLst>
          </p:cNvPr>
          <p:cNvSpPr txBox="1"/>
          <p:nvPr/>
        </p:nvSpPr>
        <p:spPr>
          <a:xfrm>
            <a:off x="5374257" y="148374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112853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88FD6603-769F-4699-8E38-B5C49C39EC14}"/>
              </a:ext>
            </a:extLst>
          </p:cNvPr>
          <p:cNvSpPr txBox="1"/>
          <p:nvPr/>
        </p:nvSpPr>
        <p:spPr>
          <a:xfrm>
            <a:off x="5374257" y="148374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58EA5E91-43D8-4A56-B7CB-5318390D6C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512" y="753900"/>
            <a:ext cx="12111488" cy="55399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pt-BR" sz="2400" b="1" dirty="0" err="1"/>
              <a:t>Git</a:t>
            </a:r>
            <a:r>
              <a:rPr lang="pt-BR" sz="2400" b="1" dirty="0"/>
              <a:t> / GitHub:</a:t>
            </a:r>
            <a:r>
              <a:rPr lang="pt-BR" sz="2400" dirty="0"/>
              <a:t> </a:t>
            </a:r>
            <a:r>
              <a:rPr lang="pt-BR" sz="2200" dirty="0"/>
              <a:t>Clonagem, criação e gerenciamento de repositórios públicos.</a:t>
            </a:r>
            <a:r>
              <a:rPr kumimoji="0" lang="pt-BR" altLang="pt-BR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pt-BR" altLang="pt-BR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Variáveis: </a:t>
            </a:r>
            <a:r>
              <a:rPr kumimoji="0" lang="pt-BR" altLang="pt-BR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Conceitos, declaração, escopos e atribuição no Console.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pt-BR" altLang="pt-BR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Operadores: </a:t>
            </a:r>
            <a:r>
              <a:rPr kumimoji="0" lang="pt-BR" altLang="pt-BR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Aritméticos, relacionais, lógicos, incremento e operador Spread.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pt-BR" altLang="pt-BR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Estruturas de Decisão: </a:t>
            </a:r>
            <a:r>
              <a:rPr kumimoji="0" lang="pt-BR" altLang="pt-BR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Condicionais (</a:t>
            </a:r>
            <a:r>
              <a:rPr kumimoji="0" lang="pt-BR" altLang="pt-BR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Courier New" panose="02070309020205020404" pitchFamily="49" charset="0"/>
              </a:rPr>
              <a:t>if</a:t>
            </a:r>
            <a:r>
              <a:rPr kumimoji="0" lang="pt-BR" altLang="pt-BR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Courier New" panose="02070309020205020404" pitchFamily="49" charset="0"/>
              </a:rPr>
              <a:t>/</a:t>
            </a:r>
            <a:r>
              <a:rPr kumimoji="0" lang="pt-BR" altLang="pt-BR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Courier New" panose="02070309020205020404" pitchFamily="49" charset="0"/>
              </a:rPr>
              <a:t>else</a:t>
            </a:r>
            <a:r>
              <a:rPr kumimoji="0" lang="pt-BR" altLang="pt-BR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, </a:t>
            </a:r>
            <a:r>
              <a:rPr kumimoji="0" lang="pt-BR" altLang="pt-BR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Courier New" panose="02070309020205020404" pitchFamily="49" charset="0"/>
              </a:rPr>
              <a:t>switch</a:t>
            </a:r>
            <a:r>
              <a:rPr kumimoji="0" lang="pt-BR" altLang="pt-BR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).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pt-BR" altLang="pt-BR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Estruturas de Repetição: </a:t>
            </a:r>
            <a:r>
              <a:rPr kumimoji="0" lang="pt-BR" altLang="pt-BR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Laços de repetição (</a:t>
            </a:r>
            <a:r>
              <a:rPr kumimoji="0" lang="pt-BR" altLang="pt-BR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Courier New" panose="02070309020205020404" pitchFamily="49" charset="0"/>
              </a:rPr>
              <a:t>for</a:t>
            </a:r>
            <a:r>
              <a:rPr kumimoji="0" lang="pt-BR" altLang="pt-BR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, </a:t>
            </a:r>
            <a:r>
              <a:rPr kumimoji="0" lang="pt-BR" altLang="pt-BR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Courier New" panose="02070309020205020404" pitchFamily="49" charset="0"/>
              </a:rPr>
              <a:t>while</a:t>
            </a:r>
            <a:r>
              <a:rPr kumimoji="0" lang="pt-BR" altLang="pt-BR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)</a:t>
            </a:r>
            <a:r>
              <a:rPr kumimoji="0" lang="pt-BR" altLang="pt-BR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pt-BR" altLang="pt-BR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Manipulação de </a:t>
            </a:r>
            <a:r>
              <a:rPr kumimoji="0" lang="pt-BR" altLang="pt-BR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String</a:t>
            </a:r>
            <a:r>
              <a:rPr kumimoji="0" lang="pt-BR" altLang="pt-BR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: </a:t>
            </a:r>
            <a:r>
              <a:rPr kumimoji="0" lang="pt-BR" altLang="pt-BR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Declarações (' ', " ",  ) e métodos nativos (</a:t>
            </a:r>
            <a:r>
              <a:rPr kumimoji="0" lang="pt-BR" altLang="pt-BR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toUpperCase</a:t>
            </a:r>
            <a:r>
              <a:rPr kumimoji="0" lang="pt-BR" altLang="pt-BR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(), </a:t>
            </a:r>
            <a:r>
              <a:rPr kumimoji="0" lang="pt-BR" altLang="pt-BR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toLowerCase</a:t>
            </a:r>
            <a:r>
              <a:rPr kumimoji="0" lang="pt-BR" altLang="pt-BR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(), includes(), </a:t>
            </a:r>
            <a:r>
              <a:rPr kumimoji="0" lang="pt-BR" altLang="pt-BR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replace</a:t>
            </a:r>
            <a:r>
              <a:rPr kumimoji="0" lang="pt-BR" altLang="pt-BR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(), </a:t>
            </a:r>
            <a:r>
              <a:rPr kumimoji="0" lang="pt-BR" altLang="pt-BR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trim</a:t>
            </a:r>
            <a:r>
              <a:rPr kumimoji="0" lang="pt-BR" altLang="pt-BR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()).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pt-BR" altLang="pt-BR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Objeto </a:t>
            </a:r>
            <a:r>
              <a:rPr kumimoji="0" lang="pt-BR" altLang="pt-BR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Math</a:t>
            </a:r>
            <a:r>
              <a:rPr kumimoji="0" lang="pt-BR" altLang="pt-BR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: </a:t>
            </a:r>
            <a:r>
              <a:rPr kumimoji="0" lang="pt-BR" altLang="pt-BR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Utilitários matemáticos como </a:t>
            </a:r>
            <a:r>
              <a:rPr kumimoji="0" lang="pt-BR" altLang="pt-BR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Courier New" panose="02070309020205020404" pitchFamily="49" charset="0"/>
              </a:rPr>
              <a:t>Math.random</a:t>
            </a:r>
            <a:r>
              <a:rPr kumimoji="0" lang="pt-BR" altLang="pt-BR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Courier New" panose="02070309020205020404" pitchFamily="49" charset="0"/>
              </a:rPr>
              <a:t>()</a:t>
            </a:r>
            <a:r>
              <a:rPr kumimoji="0" lang="pt-BR" altLang="pt-BR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, </a:t>
            </a:r>
            <a:r>
              <a:rPr kumimoji="0" lang="pt-BR" altLang="pt-BR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Courier New" panose="02070309020205020404" pitchFamily="49" charset="0"/>
              </a:rPr>
              <a:t>Math.round</a:t>
            </a:r>
            <a:r>
              <a:rPr kumimoji="0" lang="pt-BR" altLang="pt-BR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Courier New" panose="02070309020205020404" pitchFamily="49" charset="0"/>
              </a:rPr>
              <a:t>()</a:t>
            </a:r>
            <a:r>
              <a:rPr kumimoji="0" lang="pt-BR" altLang="pt-BR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e </a:t>
            </a:r>
            <a:r>
              <a:rPr kumimoji="0" lang="pt-BR" altLang="pt-BR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Courier New" panose="02070309020205020404" pitchFamily="49" charset="0"/>
              </a:rPr>
              <a:t>Math.ceil</a:t>
            </a:r>
            <a:r>
              <a:rPr kumimoji="0" lang="pt-BR" altLang="pt-BR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Courier New" panose="02070309020205020404" pitchFamily="49" charset="0"/>
              </a:rPr>
              <a:t>()</a:t>
            </a:r>
            <a:r>
              <a:rPr kumimoji="0" lang="pt-BR" altLang="pt-BR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pt-BR" altLang="pt-BR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Objeto Date: </a:t>
            </a:r>
            <a:r>
              <a:rPr kumimoji="0" lang="pt-BR" altLang="pt-BR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Manipulação de datas e horários através dos métodos </a:t>
            </a:r>
            <a:r>
              <a:rPr kumimoji="0" lang="pt-BR" altLang="pt-BR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getDate</a:t>
            </a:r>
            <a:r>
              <a:rPr kumimoji="0" lang="pt-BR" altLang="pt-BR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(), </a:t>
            </a:r>
            <a:r>
              <a:rPr kumimoji="0" lang="pt-BR" altLang="pt-BR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getMonth</a:t>
            </a:r>
            <a:r>
              <a:rPr kumimoji="0" lang="pt-BR" altLang="pt-BR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(), </a:t>
            </a:r>
            <a:r>
              <a:rPr kumimoji="0" lang="pt-BR" altLang="pt-BR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getFullYear</a:t>
            </a:r>
            <a:r>
              <a:rPr kumimoji="0" lang="pt-BR" altLang="pt-BR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(), </a:t>
            </a:r>
            <a:r>
              <a:rPr kumimoji="0" lang="pt-BR" altLang="pt-BR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getHours</a:t>
            </a:r>
            <a:r>
              <a:rPr kumimoji="0" lang="pt-BR" altLang="pt-BR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() e </a:t>
            </a:r>
            <a:r>
              <a:rPr kumimoji="0" lang="pt-BR" altLang="pt-BR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getMinutes</a:t>
            </a:r>
            <a:r>
              <a:rPr kumimoji="0" lang="pt-BR" altLang="pt-BR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().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pt-BR" altLang="pt-BR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Arrays</a:t>
            </a:r>
            <a:r>
              <a:rPr kumimoji="0" lang="pt-BR" altLang="pt-BR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&amp; Spread: </a:t>
            </a:r>
            <a:r>
              <a:rPr kumimoji="0" lang="pt-BR" altLang="pt-BR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Criação, manipulação de listas (</a:t>
            </a:r>
            <a:r>
              <a:rPr kumimoji="0" lang="pt-BR" altLang="pt-BR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push</a:t>
            </a:r>
            <a:r>
              <a:rPr kumimoji="0" lang="pt-BR" altLang="pt-BR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(), pop(), shift(), </a:t>
            </a:r>
            <a:r>
              <a:rPr kumimoji="0" lang="pt-BR" altLang="pt-BR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unshift</a:t>
            </a:r>
            <a:r>
              <a:rPr kumimoji="0" lang="pt-BR" altLang="pt-BR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(), includes()),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pt-BR" altLang="pt-BR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Objetos Literais: </a:t>
            </a:r>
            <a:r>
              <a:rPr kumimoji="0" lang="pt-BR" altLang="pt-BR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Estruturas de dados com chave e valor.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pt-BR" altLang="pt-BR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Desestruturação (</a:t>
            </a:r>
            <a:r>
              <a:rPr kumimoji="0" lang="pt-BR" altLang="pt-BR" sz="2200" b="1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Destructuring</a:t>
            </a:r>
            <a:r>
              <a:rPr kumimoji="0" lang="pt-BR" altLang="pt-BR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): </a:t>
            </a:r>
            <a:r>
              <a:rPr kumimoji="0" lang="pt-BR" altLang="pt-BR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Sintaxe para extrair valores de </a:t>
            </a:r>
            <a:r>
              <a:rPr kumimoji="0" lang="pt-BR" altLang="pt-BR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arrays</a:t>
            </a:r>
            <a:r>
              <a:rPr kumimoji="0" lang="pt-BR" altLang="pt-BR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e objetos.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pt-BR" altLang="pt-BR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Funções e seus Tipos: </a:t>
            </a:r>
            <a:r>
              <a:rPr kumimoji="0" lang="pt-BR" altLang="pt-BR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Introdução a </a:t>
            </a:r>
            <a:r>
              <a:rPr kumimoji="0" lang="pt-BR" altLang="pt-BR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Functions</a:t>
            </a:r>
            <a:r>
              <a:rPr kumimoji="0" lang="pt-BR" altLang="pt-BR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e passagem de parâmetros.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pt-BR" altLang="pt-BR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Persistência Local (Web </a:t>
            </a:r>
            <a:r>
              <a:rPr kumimoji="0" lang="pt-BR" altLang="pt-BR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Storage</a:t>
            </a:r>
            <a:r>
              <a:rPr kumimoji="0" lang="pt-BR" altLang="pt-BR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): </a:t>
            </a:r>
            <a:r>
              <a:rPr kumimoji="0" lang="pt-BR" altLang="pt-BR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Armazenamento de dados no navegador com </a:t>
            </a:r>
            <a:r>
              <a:rPr kumimoji="0" lang="pt-BR" altLang="pt-BR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Courier New" panose="02070309020205020404" pitchFamily="49" charset="0"/>
              </a:rPr>
              <a:t>LocalStorage</a:t>
            </a:r>
            <a:r>
              <a:rPr kumimoji="0" lang="pt-BR" altLang="pt-BR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e </a:t>
            </a:r>
            <a:r>
              <a:rPr kumimoji="0" lang="pt-BR" altLang="pt-BR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Courier New" panose="02070309020205020404" pitchFamily="49" charset="0"/>
              </a:rPr>
              <a:t>SessionStorage</a:t>
            </a:r>
            <a:r>
              <a:rPr kumimoji="0" lang="pt-BR" altLang="pt-BR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. 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83546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88FD6603-769F-4699-8E38-B5C49C39EC14}"/>
              </a:ext>
            </a:extLst>
          </p:cNvPr>
          <p:cNvSpPr txBox="1"/>
          <p:nvPr/>
        </p:nvSpPr>
        <p:spPr>
          <a:xfrm>
            <a:off x="5374257" y="148374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427442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88FD6603-769F-4699-8E38-B5C49C39EC14}"/>
              </a:ext>
            </a:extLst>
          </p:cNvPr>
          <p:cNvSpPr txBox="1"/>
          <p:nvPr/>
        </p:nvSpPr>
        <p:spPr>
          <a:xfrm>
            <a:off x="5374257" y="148374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094E15-5B73-4F6E-85A7-2CD85C4B47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58" y="850014"/>
            <a:ext cx="12178842" cy="51244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pt-BR" altLang="pt-BR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DOM e Eventos:</a:t>
            </a: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Mapeamento e manipulação dinâmica dos elementos da árvore HTML, permitindo alterar estilos, conteúdos e estruturas da página em tempo real.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pt-BR" altLang="pt-BR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Eventos de </a:t>
            </a:r>
            <a:r>
              <a:rPr kumimoji="0" lang="pt-BR" altLang="pt-BR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Callback</a:t>
            </a:r>
            <a:r>
              <a:rPr kumimoji="0" lang="pt-BR" altLang="pt-BR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Estudo de funções passadas como argumento para serem executadas após o disparo de eventos específicos ou interações do usuário.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pt-BR" altLang="pt-BR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Filter</a:t>
            </a:r>
            <a:r>
              <a:rPr kumimoji="0" lang="pt-BR" altLang="pt-BR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Método avançado de iteração de </a:t>
            </a:r>
            <a:r>
              <a:rPr kumimoji="0" lang="pt-BR" altLang="pt-BR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arrays</a:t>
            </a: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para filtrar e extrair subconjuntos de dados com base em condições lógicas.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pt-BR" altLang="pt-BR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Reduce</a:t>
            </a:r>
            <a:r>
              <a:rPr kumimoji="0" lang="pt-BR" altLang="pt-BR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Método avançado de iteração de </a:t>
            </a:r>
            <a:r>
              <a:rPr kumimoji="0" lang="pt-BR" altLang="pt-BR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arrays</a:t>
            </a: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para processar, acumular e consolidar uma coleção de dados em um único valor final.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pt-BR" altLang="pt-BR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Node.js (Instalação e Operação Básica):</a:t>
            </a: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Configuração e operação do ambiente de execução </a:t>
            </a:r>
            <a:r>
              <a:rPr kumimoji="0" lang="pt-BR" altLang="pt-BR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JavaScript</a:t>
            </a: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no lado do servidor (Back-</a:t>
            </a:r>
            <a:r>
              <a:rPr kumimoji="0" lang="pt-BR" altLang="pt-BR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End</a:t>
            </a: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pt-BR" altLang="pt-BR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Promises</a:t>
            </a:r>
            <a:r>
              <a:rPr kumimoji="0" lang="pt-BR" altLang="pt-BR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pt-BR" altLang="pt-BR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Async</a:t>
            </a:r>
            <a:r>
              <a:rPr kumimoji="0" lang="pt-BR" altLang="pt-BR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 </a:t>
            </a:r>
            <a:r>
              <a:rPr kumimoji="0" lang="pt-BR" altLang="pt-BR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Await</a:t>
            </a:r>
            <a:r>
              <a:rPr kumimoji="0" lang="pt-BR" altLang="pt-BR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Programação assíncrona para gerenciamento de rotinas não bloqueantes e controle de requisições de rede.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pt-BR" altLang="pt-BR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APIs:</a:t>
            </a: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Conexão, consumo e transferência de dados entre aplicações Front-</a:t>
            </a:r>
            <a:r>
              <a:rPr kumimoji="0" lang="pt-BR" altLang="pt-BR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End</a:t>
            </a: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 serviços Web externos.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pt-BR" altLang="pt-BR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ReactJS</a:t>
            </a:r>
            <a:r>
              <a:rPr kumimoji="0" lang="pt-BR" altLang="pt-BR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(Componentes):</a:t>
            </a: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Construção de interfaces de usuário modernas e reativas baseadas em arquitetura de componentes funcionais. </a:t>
            </a:r>
          </a:p>
        </p:txBody>
      </p:sp>
    </p:spTree>
    <p:extLst>
      <p:ext uri="{BB962C8B-B14F-4D97-AF65-F5344CB8AC3E}">
        <p14:creationId xmlns:p14="http://schemas.microsoft.com/office/powerpoint/2010/main" val="6403810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88FD6603-769F-4699-8E38-B5C49C39EC14}"/>
              </a:ext>
            </a:extLst>
          </p:cNvPr>
          <p:cNvSpPr txBox="1"/>
          <p:nvPr/>
        </p:nvSpPr>
        <p:spPr>
          <a:xfrm>
            <a:off x="5374257" y="148374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243685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88FD6603-769F-4699-8E38-B5C49C39EC14}"/>
              </a:ext>
            </a:extLst>
          </p:cNvPr>
          <p:cNvSpPr txBox="1"/>
          <p:nvPr/>
        </p:nvSpPr>
        <p:spPr>
          <a:xfrm>
            <a:off x="5374257" y="148374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E2F1FE6-A840-4EA4-9337-3060DB96D6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146" y="1009083"/>
            <a:ext cx="9489551" cy="5339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1442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88FD6603-769F-4699-8E38-B5C49C39EC14}"/>
              </a:ext>
            </a:extLst>
          </p:cNvPr>
          <p:cNvSpPr txBox="1"/>
          <p:nvPr/>
        </p:nvSpPr>
        <p:spPr>
          <a:xfrm>
            <a:off x="5374257" y="148374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5C012639-0EE3-4A76-B32B-2D224A4E4F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81" y="584693"/>
            <a:ext cx="10877908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Passo 1: 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Criar a Estrutura Básica do HTML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No VS 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Code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crie um arquivo chamado 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index.html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Digite ! e aperte 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Enter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(ou digite a estrutura padrão com &lt;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head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&gt; e &lt;body&gt;).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Dentro do &lt;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head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&gt;, defina o título da página usando &lt;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title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&gt;Exercício Prático de DOM&lt;/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title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&gt;.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F3E8553E-D571-47F5-85E7-03D1597481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82" y="1570727"/>
            <a:ext cx="12140238" cy="1877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Passo 2: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Montar os Elementos Visuais dentro do &lt;body&gt;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Adicione os 3 elementos principais na ordem em que aparecerão na tela: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Crie um campo de entrada com a 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tag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&lt;input&gt;, defina o atributo 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type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="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text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", coloque um identificador id="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campoTexto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" e </a:t>
            </a:r>
            <a:b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adicione o texto de ajuda 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placeholder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="Digite algo aqui...".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Logo abaixo, crie um botão com a 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tag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&lt;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button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&gt;, defina o identificador id="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btnExibir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" e escreva o texto Exibir Texto entre as 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tags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Crie uma caixa para o resultado usando a 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tag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&lt;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div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&gt; e adicione o identificador id="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painelResultado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".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093CBE27-2099-4F69-BEA6-52881E88A3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84" y="3071546"/>
            <a:ext cx="12261013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Passo 3: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Mapear os Elementos com </a:t>
            </a:r>
            <a:r>
              <a:rPr kumimoji="0" lang="pt-BR" altLang="pt-B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JavaScript</a:t>
            </a:r>
            <a:endParaRPr kumimoji="0" lang="pt-BR" altLang="pt-BR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Abra a 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tag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&lt;script&gt; no final do &lt;body&gt; e crie três variáveis constantes para selecionar os elementos criados no HTML: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Capture o input usando o método por ID: 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document.getElementById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('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campoTexto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').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Capture o botão usando o seletor CSS: 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document.querySelector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('#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btnExibir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').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Capture a 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div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 resultado usando o seletor CSS: 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document.querySelector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('#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painelResultado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').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8929C0E8-FFFD-47BF-8BC3-02129774F8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84" y="4288412"/>
            <a:ext cx="12261013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Passo 4: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Inspecionar Propriedades no Console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Para testar como o 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JavaScript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lê o DOM, adicione comandos para exibir no console do navegador: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Exiba o ID do campo usando console.log(input.id).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Exiba o nome da 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tag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do botão usando console.log(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botao.tagName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F8801291-FE67-483B-803E-E4B90CBA73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6899" y="5277851"/>
            <a:ext cx="10561831" cy="1354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Passo 5: 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Criar a Ação de Clique e Exibir o Resultado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Atrele um escutador de eventos ao botão usando 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botao.addEventListener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('click', 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function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 { ... }).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Dentro da função do clique, leia o que o usuário digitou através da propriedade .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value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do input (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const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texto = 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input.value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Dê um console.log(texto) para verificar o valor capturado.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Por fim, insira esse texto dentro da 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div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alterando a propriedade de texto: 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divResultado.innerText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= texto.</a:t>
            </a:r>
          </a:p>
        </p:txBody>
      </p:sp>
    </p:spTree>
    <p:extLst>
      <p:ext uri="{BB962C8B-B14F-4D97-AF65-F5344CB8AC3E}">
        <p14:creationId xmlns:p14="http://schemas.microsoft.com/office/powerpoint/2010/main" val="17387225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Agrupar 3">
            <a:extLst>
              <a:ext uri="{FF2B5EF4-FFF2-40B4-BE49-F238E27FC236}">
                <a16:creationId xmlns:a16="http://schemas.microsoft.com/office/drawing/2014/main" id="{03A9F873-01A9-43CE-9072-25E91F7DA04D}"/>
              </a:ext>
            </a:extLst>
          </p:cNvPr>
          <p:cNvGrpSpPr/>
          <p:nvPr/>
        </p:nvGrpSpPr>
        <p:grpSpPr>
          <a:xfrm>
            <a:off x="5442820" y="4930719"/>
            <a:ext cx="6733830" cy="1991659"/>
            <a:chOff x="5442820" y="4551585"/>
            <a:chExt cx="6733830" cy="1991659"/>
          </a:xfrm>
        </p:grpSpPr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C9219349-C52F-4A93-8513-224CD0AEDF47}"/>
                </a:ext>
              </a:extLst>
            </p:cNvPr>
            <p:cNvSpPr txBox="1"/>
            <p:nvPr/>
          </p:nvSpPr>
          <p:spPr>
            <a:xfrm>
              <a:off x="5442820" y="5219805"/>
              <a:ext cx="6733830" cy="1323439"/>
            </a:xfrm>
            <a:prstGeom prst="rect">
              <a:avLst/>
            </a:prstGeom>
            <a:noFill/>
            <a:effectLst>
              <a:softEdge rad="114300"/>
            </a:effectLst>
          </p:spPr>
          <p:txBody>
            <a:bodyPr wrap="square">
              <a:spAutoFit/>
            </a:bodyPr>
            <a:lstStyle/>
            <a:p>
              <a:r>
                <a:rPr lang="pt-BR" sz="8000" b="1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PERGUNTAS???</a:t>
              </a:r>
              <a:endParaRPr lang="pt-BR" sz="8000" b="1" dirty="0"/>
            </a:p>
          </p:txBody>
        </p:sp>
        <p:sp>
          <p:nvSpPr>
            <p:cNvPr id="12" name="Título 1">
              <a:extLst>
                <a:ext uri="{FF2B5EF4-FFF2-40B4-BE49-F238E27FC236}">
                  <a16:creationId xmlns:a16="http://schemas.microsoft.com/office/drawing/2014/main" id="{E3255C86-6FD8-4152-8291-2D7040D65F31}"/>
                </a:ext>
              </a:extLst>
            </p:cNvPr>
            <p:cNvSpPr txBox="1">
              <a:spLocks/>
            </p:cNvSpPr>
            <p:nvPr/>
          </p:nvSpPr>
          <p:spPr>
            <a:xfrm>
              <a:off x="5442820" y="5184761"/>
              <a:ext cx="4020357" cy="225995"/>
            </a:xfrm>
            <a:prstGeom prst="rect">
              <a:avLst/>
            </a:prstGeom>
            <a:effectLst>
              <a:outerShdw blurRad="25400" dir="17880000">
                <a:srgbClr val="000000">
                  <a:alpha val="46000"/>
                </a:srgbClr>
              </a:outerShdw>
            </a:effectLst>
          </p:spPr>
          <p:txBody>
            <a:bodyPr vert="horz" lIns="91440" tIns="45720" rIns="91440" bIns="45720" rtlCol="0" anchor="b">
              <a:noAutofit/>
            </a:bodyPr>
            <a:lstStyle>
              <a:defPPr rtl="0"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 sz="2400" dirty="0"/>
                <a:t>profantonio.cruz@fiap.com.br</a:t>
              </a:r>
              <a:endParaRPr lang="pt-br" sz="2400" dirty="0"/>
            </a:p>
          </p:txBody>
        </p:sp>
        <p:pic>
          <p:nvPicPr>
            <p:cNvPr id="13" name="Imagem 12">
              <a:extLst>
                <a:ext uri="{FF2B5EF4-FFF2-40B4-BE49-F238E27FC236}">
                  <a16:creationId xmlns:a16="http://schemas.microsoft.com/office/drawing/2014/main" id="{D8D74F1A-AAAC-4A0B-996C-A179DB6E495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42820" y="4551585"/>
              <a:ext cx="451917" cy="451917"/>
            </a:xfrm>
            <a:prstGeom prst="rect">
              <a:avLst/>
            </a:prstGeom>
          </p:spPr>
        </p:pic>
        <p:sp>
          <p:nvSpPr>
            <p:cNvPr id="14" name="Título 1">
              <a:extLst>
                <a:ext uri="{FF2B5EF4-FFF2-40B4-BE49-F238E27FC236}">
                  <a16:creationId xmlns:a16="http://schemas.microsoft.com/office/drawing/2014/main" id="{2E16270C-1DE1-4F21-924B-6CAC6CFC09E2}"/>
                </a:ext>
              </a:extLst>
            </p:cNvPr>
            <p:cNvSpPr txBox="1">
              <a:spLocks/>
            </p:cNvSpPr>
            <p:nvPr/>
          </p:nvSpPr>
          <p:spPr>
            <a:xfrm>
              <a:off x="5855417" y="4656643"/>
              <a:ext cx="3836453" cy="311815"/>
            </a:xfrm>
            <a:prstGeom prst="rect">
              <a:avLst/>
            </a:prstGeom>
            <a:effectLst>
              <a:outerShdw blurRad="25400" dir="17880000">
                <a:srgbClr val="000000">
                  <a:alpha val="46000"/>
                </a:srgbClr>
              </a:outerShdw>
            </a:effectLst>
          </p:spPr>
          <p:txBody>
            <a:bodyPr vert="horz" lIns="91440" tIns="45720" rIns="91440" bIns="45720" rtlCol="0" anchor="b">
              <a:noAutofit/>
            </a:bodyPr>
            <a:lstStyle>
              <a:defPPr rtl="0"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 sz="2400" b="1" dirty="0"/>
                <a:t>Profissional:</a:t>
              </a:r>
              <a:endParaRPr lang="pt-br" sz="2400" b="1" dirty="0"/>
            </a:p>
          </p:txBody>
        </p:sp>
      </p:grp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ACA2AE6D-8CE8-4E18-A7AD-549FF7C272E2}"/>
              </a:ext>
            </a:extLst>
          </p:cNvPr>
          <p:cNvSpPr txBox="1"/>
          <p:nvPr/>
        </p:nvSpPr>
        <p:spPr>
          <a:xfrm>
            <a:off x="0" y="1046084"/>
            <a:ext cx="733361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i="1" dirty="0"/>
              <a:t>"A forma como o ser interage com o mundo é a exteriorização de seus desejos e experiências intrínsecas, revelando, em cada ação, fragmentos de sua essência, de sua história e da maneira como compreende a realidade ao seu redor.“ </a:t>
            </a:r>
            <a:r>
              <a:rPr lang="pt-BR" sz="2400" dirty="0"/>
              <a:t>— </a:t>
            </a:r>
            <a:r>
              <a:rPr lang="pt-BR" sz="2400" dirty="0" err="1"/>
              <a:t>Antonio</a:t>
            </a:r>
            <a:r>
              <a:rPr lang="pt-BR" sz="2400" dirty="0"/>
              <a:t> Cruz</a:t>
            </a:r>
            <a:endParaRPr lang="pt-BR" sz="2400" i="1" dirty="0"/>
          </a:p>
        </p:txBody>
      </p:sp>
    </p:spTree>
    <p:extLst>
      <p:ext uri="{BB962C8B-B14F-4D97-AF65-F5344CB8AC3E}">
        <p14:creationId xmlns:p14="http://schemas.microsoft.com/office/powerpoint/2010/main" val="133391231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ala de Cinza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8294</TotalTime>
  <Words>837</Words>
  <Application>Microsoft Office PowerPoint</Application>
  <PresentationFormat>Widescreen</PresentationFormat>
  <Paragraphs>48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5" baseType="lpstr">
      <vt:lpstr>Arial</vt:lpstr>
      <vt:lpstr>Arial Rounded MT Bold</vt:lpstr>
      <vt:lpstr>Calibri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MEUCOMPUTADOR</dc:creator>
  <cp:lastModifiedBy>Antonio Carlos Teixeira Cruz</cp:lastModifiedBy>
  <cp:revision>233</cp:revision>
  <cp:lastPrinted>2026-08-06T13:08:12Z</cp:lastPrinted>
  <dcterms:created xsi:type="dcterms:W3CDTF">2026-03-25T01:38:16Z</dcterms:created>
  <dcterms:modified xsi:type="dcterms:W3CDTF">2026-08-06T13:21:47Z</dcterms:modified>
</cp:coreProperties>
</file>